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line pitch: a Gmail style inbox with a real, working spam filter built from scratch, not borrowed from a library, trained only on real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is not just clutter, it is a delivery channel for phishing and scams. Keyword filters are brittle and easy to dodge. We need a model that can judge new wording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goals, not vague ones: build it ourselves, use only real data, make it feel like a product, explain every answer, and measure accuracy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 filters are a flat rule. Naive Bayes is a judgment call built from statistics, which is why it generalizes to spam it has never literally seen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email, labeled by real people, from an academic corpus built after the Enron investigation. No synthetic or hand written examples anywhere in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 theorem is just a rule for updating a belief once new evidence comes in. Here the belief is spam or not, and the evidence is the message's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assumption is the one simplification that makes this tractable. Log space is purely an engineering fix for a real numerical problem, not a change in the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fixes, not theoretical ones: smoothing stops a single unseen word from breaking the whole calculation, and the sigmoid turns raw log-odds into a readable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one way: real corpus, split into train and demo, trained into the classifier, served by Flask, rendered by the UI. Evaluation runs in parallel,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simple tooling. No framework, no ORM, no scikit-learn. The point was to understand every moving part, not to assemble prebuilt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app, running right now, not a mockup. Every row is a real Enron-Spam email the model has never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hidden. Every check shows the priors, the log probabilities, the sigmoid step, and the actual words that pushed the result toward spam or ham.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98.64% on real, unseen email, with duplicate emails grouped so none leak across the train/test split, is a strong and honest result for a hand written classifier. The mistakes are rare and roughly balanced between the two error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was a real bug or a real constraint found while building this, not a hypothetical. Each was diagnosed and fixed, not patched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limitations honestly, rather than overselling the prototype. Every one of these is a reasonable next step, not a hidden flaw.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headline result and one or two future directions you are most excited about, then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Have the live app ready to open if anyone wants to see it running instead of in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3" y="1057827"/>
            <a:ext cx="10566447" cy="416220"/>
          </a:xfrm>
          <a:prstGeom prst="rect">
            <a:avLst/>
          </a:prstGeom>
          <a:noFill/>
          <a:ln/>
        </p:spPr>
        <p:txBody>
          <a:bodyPr wrap="square" lIns="0" tIns="0" rIns="0" bIns="0" rtlCol="0" anchor="t"/>
          <a:lstStyle>
            <a:lvl1pPr algn="l" indent="0" marL="0">
              <a:lnSpc>
                <a:spcPct val="115000"/>
              </a:lnSpc>
              <a:buNone/>
              <a:defRPr lang="en-US" sz="2850" dirty="0">
                <a:solidFill>
                  <a:srgbClr val="1C2B39"/>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50" dirty="0"/>
          </a:p>
        </p:txBody>
      </p:sp>
      <p:sp>
        <p:nvSpPr>
          <p:cNvPr id="3" name="Text Placeholder 2"/>
          <p:cNvSpPr/>
          <p:nvPr>
            <p:ph idx="101" type="body"/>
          </p:nvPr>
        </p:nvSpPr>
        <p:spPr>
          <a:xfrm>
            <a:off x="812763" y="1778847"/>
            <a:ext cx="10566437" cy="4266353"/>
          </a:xfrm>
          <a:prstGeom prst="rect">
            <a:avLst/>
          </a:prstGeom>
          <a:noFill/>
          <a:ln/>
        </p:spPr>
        <p:txBody>
          <a:bodyPr wrap="square" lIns="0" tIns="0" rIns="0" bIns="0" rtlCol="0" anchor="t"/>
          <a:lstStyle>
            <a:lvl1pPr algn="l" indent="0" marL="0">
              <a:lnSpc>
                <a:spcPct val="140000"/>
              </a:lnSpc>
              <a:buNone/>
              <a:defRPr lang="en-US" sz="1600" dirty="0">
                <a:solidFill>
                  <a:srgbClr val="1C2B39"/>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3" y="1057827"/>
            <a:ext cx="10566447" cy="416220"/>
          </a:xfrm>
          <a:prstGeom prst="rect">
            <a:avLst/>
          </a:prstGeom>
          <a:noFill/>
          <a:ln/>
        </p:spPr>
        <p:txBody>
          <a:bodyPr wrap="square" lIns="0" tIns="0" rIns="0" bIns="0" rtlCol="0" anchor="t"/>
          <a:lstStyle>
            <a:lvl1pPr algn="l" indent="0" marL="0">
              <a:lnSpc>
                <a:spcPct val="115000"/>
              </a:lnSpc>
              <a:buNone/>
              <a:defRPr lang="en-US" sz="2850" dirty="0">
                <a:solidFill>
                  <a:srgbClr val="1C2B39"/>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50" dirty="0"/>
          </a:p>
        </p:txBody>
      </p:sp>
      <p:sp>
        <p:nvSpPr>
          <p:cNvPr id="3" name="Text Placeholder 2"/>
          <p:cNvSpPr/>
          <p:nvPr>
            <p:ph idx="101" type="body"/>
          </p:nvPr>
        </p:nvSpPr>
        <p:spPr>
          <a:xfrm>
            <a:off x="812763" y="1778847"/>
            <a:ext cx="10566437" cy="4266353"/>
          </a:xfrm>
          <a:prstGeom prst="rect">
            <a:avLst/>
          </a:prstGeom>
          <a:noFill/>
          <a:ln/>
        </p:spPr>
        <p:txBody>
          <a:bodyPr wrap="square" lIns="0" tIns="0" rIns="0" bIns="0" rtlCol="0" anchor="t"/>
          <a:lstStyle>
            <a:lvl1pPr algn="l" indent="0" marL="0">
              <a:lnSpc>
                <a:spcPct val="140000"/>
              </a:lnSpc>
              <a:buNone/>
              <a:defRPr lang="en-US" sz="1600" dirty="0">
                <a:solidFill>
                  <a:srgbClr val="1C2B39"/>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812763"/>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A8"/>
                </a:solidFill>
                <a:latin typeface="IBM Plex Sans" pitchFamily="34" charset="0"/>
                <a:ea typeface="IBM Plex Sans" pitchFamily="34" charset="-122"/>
                <a:cs typeface="IBM Plex Sans" pitchFamily="34" charset="-120"/>
              </a:rPr>
              <a:t>COLLEGE PROJECT · MACHINE LEARNING</a:t>
            </a:r>
            <a:endParaRPr lang="en-US" sz="1200" dirty="0"/>
          </a:p>
        </p:txBody>
      </p:sp>
      <p:sp>
        <p:nvSpPr>
          <p:cNvPr id="3" name="Text 1"/>
          <p:cNvSpPr/>
          <p:nvPr>
            <p:ph type="title"/>
          </p:nvPr>
        </p:nvSpPr>
        <p:spPr>
          <a:xfrm>
            <a:off x="812763" y="1203889"/>
            <a:ext cx="10883441" cy="738550"/>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1C2B39"/>
                </a:solidFill>
                <a:latin typeface="Source Serif 4" pitchFamily="18" charset="0"/>
                <a:ea typeface="Source Serif 4" pitchFamily="18" charset="-122"/>
                <a:cs typeface="Source Serif 4" pitchFamily="18" charset="-120"/>
              </a:rPr>
              <a:t>Catching Spam with Naive Bayes</a:t>
            </a:r>
            <a:endParaRPr lang="en-US" sz="5200" dirty="0"/>
          </a:p>
        </p:txBody>
      </p:sp>
      <p:sp>
        <p:nvSpPr>
          <p:cNvPr id="4" name="Text 2"/>
          <p:cNvSpPr/>
          <p:nvPr/>
        </p:nvSpPr>
        <p:spPr>
          <a:xfrm>
            <a:off x="812763" y="2094831"/>
            <a:ext cx="11379237" cy="311194"/>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6525C"/>
                </a:solidFill>
                <a:latin typeface="IBM Plex Sans" pitchFamily="34" charset="0"/>
                <a:ea typeface="IBM Plex Sans" pitchFamily="34" charset="-122"/>
                <a:cs typeface="IBM Plex Sans" pitchFamily="34" charset="-120"/>
              </a:rPr>
              <a:t>A spam classifier built from scratch and wired into a working, Gmail style inbox, trained only on real, publicly released email.</a:t>
            </a:r>
            <a:endParaRPr lang="en-US" sz="1500" dirty="0"/>
          </a:p>
        </p:txBody>
      </p:sp>
      <p:sp>
        <p:nvSpPr>
          <p:cNvPr id="5" name="Shape 3"/>
          <p:cNvSpPr/>
          <p:nvPr/>
        </p:nvSpPr>
        <p:spPr>
          <a:xfrm>
            <a:off x="812763" y="5423804"/>
            <a:ext cx="10566447" cy="0"/>
          </a:xfrm>
          <a:prstGeom prst="line">
            <a:avLst/>
          </a:prstGeom>
          <a:noFill/>
          <a:ln w="6350">
            <a:solidFill>
              <a:srgbClr val="DCE2E6"/>
            </a:solidFill>
            <a:prstDash val="solid"/>
          </a:ln>
        </p:spPr>
      </p:sp>
      <p:sp>
        <p:nvSpPr>
          <p:cNvPr id="6" name="Text 4"/>
          <p:cNvSpPr/>
          <p:nvPr/>
        </p:nvSpPr>
        <p:spPr>
          <a:xfrm>
            <a:off x="812763" y="5628701"/>
            <a:ext cx="3109183"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Ruchitra J · 25071A0533 · VNR VJIET</a:t>
            </a:r>
            <a:endParaRPr lang="en-US" sz="1200" dirty="0"/>
          </a:p>
        </p:txBody>
      </p:sp>
      <p:sp>
        <p:nvSpPr>
          <p:cNvPr id="7" name="Text 5"/>
          <p:cNvSpPr/>
          <p:nvPr/>
        </p:nvSpPr>
        <p:spPr>
          <a:xfrm>
            <a:off x="10236217" y="5628701"/>
            <a:ext cx="1142993"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812763"/>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763" y="1153092"/>
            <a:ext cx="10883441" cy="492723"/>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B39"/>
                </a:solidFill>
                <a:latin typeface="Source Serif 4" pitchFamily="18" charset="0"/>
                <a:ea typeface="Source Serif 4" pitchFamily="18" charset="-122"/>
                <a:cs typeface="Source Serif 4" pitchFamily="18" charset="-120"/>
              </a:rPr>
              <a:t>Spam is not just annoying</a:t>
            </a:r>
            <a:endParaRPr lang="en-US" sz="3200" dirty="0"/>
          </a:p>
        </p:txBody>
      </p:sp>
      <p:sp>
        <p:nvSpPr>
          <p:cNvPr id="4" name="Text 2"/>
          <p:cNvSpPr/>
          <p:nvPr/>
        </p:nvSpPr>
        <p:spPr>
          <a:xfrm>
            <a:off x="812763" y="2318463"/>
            <a:ext cx="4939598" cy="1796911"/>
          </a:xfrm>
          <a:prstGeom prst="rect">
            <a:avLst/>
          </a:prstGeom>
          <a:noFill/>
          <a:ln/>
        </p:spPr>
        <p:txBody>
          <a:bodyPr wrap="square" lIns="0" tIns="0" rIns="0" bIns="0" rtlCol="0" anchor="t">
            <a:normAutofit/>
          </a:bodyPr>
          <a:lstStyle/>
          <a:p>
            <a:pPr algn="l" indent="0" marL="0">
              <a:lnSpc>
                <a:spcPts val="2325"/>
              </a:lnSpc>
              <a:buNone/>
            </a:pPr>
            <a:r>
              <a:rPr lang="en-US" sz="1500" dirty="0">
                <a:solidFill>
                  <a:srgbClr val="46525C"/>
                </a:solidFill>
                <a:latin typeface="IBM Plex Sans" pitchFamily="34" charset="0"/>
                <a:ea typeface="IBM Plex Sans" pitchFamily="34" charset="-122"/>
                <a:cs typeface="IBM Plex Sans" pitchFamily="34" charset="-120"/>
              </a:rPr>
              <a:t>Spam is the easiest way to put phishing links, scams, and malware straight into someone's inbox. A filter that only matches a fixed list of words is simple to write, but just as simple to beat. Change one word, misspell it on purpose, add a stray character, and the message slips through untouched.</a:t>
            </a:r>
            <a:endParaRPr lang="en-US" sz="1500" dirty="0"/>
          </a:p>
        </p:txBody>
      </p:sp>
      <p:sp>
        <p:nvSpPr>
          <p:cNvPr id="5" name="Text 3"/>
          <p:cNvSpPr/>
          <p:nvPr/>
        </p:nvSpPr>
        <p:spPr>
          <a:xfrm>
            <a:off x="812763" y="4267767"/>
            <a:ext cx="4939598" cy="1206407"/>
          </a:xfrm>
          <a:prstGeom prst="rect">
            <a:avLst/>
          </a:prstGeom>
          <a:noFill/>
          <a:ln/>
        </p:spPr>
        <p:txBody>
          <a:bodyPr wrap="square" lIns="0" tIns="0" rIns="0" bIns="0" rtlCol="0" anchor="t">
            <a:normAutofit/>
          </a:bodyPr>
          <a:lstStyle/>
          <a:p>
            <a:pPr algn="l" indent="0" marL="0">
              <a:lnSpc>
                <a:spcPts val="2325"/>
              </a:lnSpc>
              <a:buNone/>
            </a:pPr>
            <a:r>
              <a:rPr lang="en-US" sz="1500" dirty="0">
                <a:solidFill>
                  <a:srgbClr val="46525C"/>
                </a:solidFill>
                <a:latin typeface="IBM Plex Sans" pitchFamily="34" charset="0"/>
                <a:ea typeface="IBM Plex Sans" pitchFamily="34" charset="-122"/>
                <a:cs typeface="IBM Plex Sans" pitchFamily="34" charset="-120"/>
              </a:rPr>
              <a:t>What a real filter needs is judgment: a way to weigh a message's words together and decide how spam like it looks, even if it has never seen that exact wording before.</a:t>
            </a:r>
            <a:endParaRPr lang="en-US" sz="1500" dirty="0"/>
          </a:p>
        </p:txBody>
      </p:sp>
      <p:sp>
        <p:nvSpPr>
          <p:cNvPr id="6" name="Shape 4"/>
          <p:cNvSpPr/>
          <p:nvPr/>
        </p:nvSpPr>
        <p:spPr>
          <a:xfrm>
            <a:off x="5967248" y="2591568"/>
            <a:ext cx="5408788" cy="2584026"/>
          </a:xfrm>
          <a:prstGeom prst="roundRect">
            <a:avLst>
              <a:gd name="adj" fmla="val 4792"/>
            </a:avLst>
          </a:prstGeom>
          <a:solidFill>
            <a:srgbClr val="FFFFFF"/>
          </a:solidFill>
          <a:ln w="6350">
            <a:solidFill>
              <a:srgbClr val="E2E6EA"/>
            </a:solidFill>
            <a:prstDash val="solid"/>
          </a:ln>
        </p:spPr>
      </p:sp>
      <p:sp>
        <p:nvSpPr>
          <p:cNvPr id="7" name="Text 5"/>
          <p:cNvSpPr/>
          <p:nvPr/>
        </p:nvSpPr>
        <p:spPr>
          <a:xfrm>
            <a:off x="6273740" y="2898060"/>
            <a:ext cx="4939677" cy="2691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9"/>
                </a:solidFill>
                <a:latin typeface="IBM Plex Sans" pitchFamily="34" charset="0"/>
                <a:ea typeface="IBM Plex Sans" pitchFamily="34" charset="-122"/>
                <a:cs typeface="IBM Plex Sans" pitchFamily="34" charset="-120"/>
              </a:rPr>
              <a:t>Why it matters</a:t>
            </a:r>
            <a:endParaRPr lang="en-US" sz="1600" dirty="0"/>
          </a:p>
        </p:txBody>
      </p:sp>
      <p:pic>
        <p:nvPicPr>
          <p:cNvPr id="8" name="Image 0" descr="Warning">    </p:cNvPr>
          <p:cNvPicPr>
            <a:picLocks noChangeAspect="1"/>
          </p:cNvPicPr>
          <p:nvPr/>
        </p:nvPicPr>
        <p:blipFill>
          <a:blip r:embed="rId1"/>
          <a:srcRect l="0" r="0" t="0" b="0"/>
          <a:stretch/>
        </p:blipFill>
        <p:spPr>
          <a:xfrm>
            <a:off x="6273740" y="3332281"/>
            <a:ext cx="203191" cy="203191"/>
          </a:xfrm>
          <a:prstGeom prst="rect">
            <a:avLst/>
          </a:prstGeom>
        </p:spPr>
      </p:pic>
      <p:sp>
        <p:nvSpPr>
          <p:cNvPr id="9" name="Text 6"/>
          <p:cNvSpPr/>
          <p:nvPr/>
        </p:nvSpPr>
        <p:spPr>
          <a:xfrm>
            <a:off x="6603925" y="3332281"/>
            <a:ext cx="4768936" cy="25658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5C"/>
                </a:solidFill>
                <a:latin typeface="IBM Plex Sans" pitchFamily="34" charset="0"/>
                <a:ea typeface="IBM Plex Sans" pitchFamily="34" charset="-122"/>
                <a:cs typeface="IBM Plex Sans" pitchFamily="34" charset="-120"/>
              </a:rPr>
              <a:t>Phishing and scams ride along with ordinary looking mail</a:t>
            </a:r>
            <a:endParaRPr lang="en-US" sz="1300" dirty="0"/>
          </a:p>
        </p:txBody>
      </p:sp>
      <p:pic>
        <p:nvPicPr>
          <p:cNvPr id="10" name="Image 1" descr="Search">    </p:cNvPr>
          <p:cNvPicPr>
            <a:picLocks noChangeAspect="1"/>
          </p:cNvPicPr>
          <p:nvPr/>
        </p:nvPicPr>
        <p:blipFill>
          <a:blip r:embed="rId2"/>
          <a:srcRect l="0" r="0" t="-557" b="-557"/>
          <a:stretch/>
        </p:blipFill>
        <p:spPr>
          <a:xfrm>
            <a:off x="6273740" y="3753917"/>
            <a:ext cx="188394" cy="203191"/>
          </a:xfrm>
          <a:prstGeom prst="rect">
            <a:avLst/>
          </a:prstGeom>
        </p:spPr>
      </p:pic>
      <p:sp>
        <p:nvSpPr>
          <p:cNvPr id="11" name="Text 7"/>
          <p:cNvSpPr/>
          <p:nvPr/>
        </p:nvSpPr>
        <p:spPr>
          <a:xfrm>
            <a:off x="6589128" y="3753917"/>
            <a:ext cx="4614827" cy="4877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5C"/>
                </a:solidFill>
                <a:latin typeface="IBM Plex Sans" pitchFamily="34" charset="0"/>
                <a:ea typeface="IBM Plex Sans" pitchFamily="34" charset="-122"/>
                <a:cs typeface="IBM Plex Sans" pitchFamily="34" charset="-120"/>
              </a:rPr>
              <a:t>Keyword filters miss anything reworded or misspelled on purpose</a:t>
            </a:r>
            <a:endParaRPr lang="en-US" sz="1300" dirty="0"/>
          </a:p>
        </p:txBody>
      </p:sp>
      <p:pic>
        <p:nvPicPr>
          <p:cNvPr id="12" name="Image 2" descr="Lightbulb">    </p:cNvPr>
          <p:cNvPicPr>
            <a:picLocks noChangeAspect="1"/>
          </p:cNvPicPr>
          <p:nvPr/>
        </p:nvPicPr>
        <p:blipFill>
          <a:blip r:embed="rId3"/>
          <a:srcRect l="-547" r="-547" t="0" b="0"/>
          <a:stretch/>
        </p:blipFill>
        <p:spPr>
          <a:xfrm>
            <a:off x="6273740" y="4406736"/>
            <a:ext cx="198996" cy="203191"/>
          </a:xfrm>
          <a:prstGeom prst="rect">
            <a:avLst/>
          </a:prstGeom>
        </p:spPr>
      </p:pic>
      <p:sp>
        <p:nvSpPr>
          <p:cNvPr id="13" name="Text 8"/>
          <p:cNvSpPr/>
          <p:nvPr/>
        </p:nvSpPr>
        <p:spPr>
          <a:xfrm>
            <a:off x="6599730" y="4406736"/>
            <a:ext cx="4603907" cy="4877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5C"/>
                </a:solidFill>
                <a:latin typeface="IBM Plex Sans" pitchFamily="34" charset="0"/>
                <a:ea typeface="IBM Plex Sans" pitchFamily="34" charset="-122"/>
                <a:cs typeface="IBM Plex Sans" pitchFamily="34" charset="-120"/>
              </a:rPr>
              <a:t>A statistical model can judge wording it has never seen before</a:t>
            </a:r>
            <a:endParaRPr lang="en-US" sz="1300" dirty="0"/>
          </a:p>
        </p:txBody>
      </p:sp>
      <p:sp>
        <p:nvSpPr>
          <p:cNvPr id="14" name="Text 9"/>
          <p:cNvSpPr/>
          <p:nvPr/>
        </p:nvSpPr>
        <p:spPr>
          <a:xfrm>
            <a:off x="812763" y="6238273"/>
            <a:ext cx="1028035"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Introduction</a:t>
            </a:r>
            <a:endParaRPr lang="en-US" sz="1200" dirty="0"/>
          </a:p>
        </p:txBody>
      </p:sp>
      <p:sp>
        <p:nvSpPr>
          <p:cNvPr id="15" name="Text 10"/>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02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812763"/>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OBJECTIVES</a:t>
            </a:r>
            <a:endParaRPr lang="en-US" sz="1200" dirty="0"/>
          </a:p>
        </p:txBody>
      </p:sp>
      <p:sp>
        <p:nvSpPr>
          <p:cNvPr id="3" name="Text 1"/>
          <p:cNvSpPr/>
          <p:nvPr>
            <p:ph type="title"/>
          </p:nvPr>
        </p:nvSpPr>
        <p:spPr>
          <a:xfrm>
            <a:off x="812763" y="1153092"/>
            <a:ext cx="10883441" cy="492723"/>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B39"/>
                </a:solidFill>
                <a:latin typeface="Source Serif 4" pitchFamily="18" charset="0"/>
                <a:ea typeface="Source Serif 4" pitchFamily="18" charset="-122"/>
                <a:cs typeface="Source Serif 4" pitchFamily="18" charset="-120"/>
              </a:rPr>
              <a:t>What this project set out to do</a:t>
            </a:r>
            <a:endParaRPr lang="en-US" sz="3200" dirty="0"/>
          </a:p>
        </p:txBody>
      </p:sp>
      <p:sp>
        <p:nvSpPr>
          <p:cNvPr id="4" name="Shape 2"/>
          <p:cNvSpPr/>
          <p:nvPr/>
        </p:nvSpPr>
        <p:spPr>
          <a:xfrm>
            <a:off x="812763" y="2726399"/>
            <a:ext cx="10566447" cy="0"/>
          </a:xfrm>
          <a:prstGeom prst="line">
            <a:avLst/>
          </a:prstGeom>
          <a:noFill/>
          <a:ln w="6350">
            <a:solidFill>
              <a:srgbClr val="E2E6EA"/>
            </a:solidFill>
            <a:prstDash val="solid"/>
          </a:ln>
        </p:spPr>
      </p:sp>
      <p:sp>
        <p:nvSpPr>
          <p:cNvPr id="5" name="Text 3"/>
          <p:cNvSpPr/>
          <p:nvPr/>
        </p:nvSpPr>
        <p:spPr>
          <a:xfrm>
            <a:off x="812763" y="2146926"/>
            <a:ext cx="406381" cy="406381"/>
          </a:xfrm>
          <a:custGeom>
            <a:avLst/>
            <a:gdLst/>
            <a:ahLst/>
            <a:cxnLst/>
            <a:rect l="l" t="t" r="r" b="b"/>
            <a:pathLst>
              <a:path w="406381" h="406381">
                <a:moveTo>
                  <a:pt x="203191" y="0"/>
                </a:moveTo>
                <a:lnTo>
                  <a:pt x="203191" y="0"/>
                </a:lnTo>
                <a:arcTo hR="203191" wR="203191" stAng="16200000" swAng="5400000"/>
                <a:lnTo>
                  <a:pt x="406381" y="203191"/>
                </a:lnTo>
                <a:arcTo hR="203191" wR="203191" stAng="0" swAng="5400000"/>
                <a:lnTo>
                  <a:pt x="203191" y="406381"/>
                </a:lnTo>
                <a:arcTo hR="203191" wR="203191" stAng="5400000" swAng="5400000"/>
                <a:lnTo>
                  <a:pt x="0" y="203191"/>
                </a:lnTo>
                <a:arcTo hR="203191" wR="203191" stAng="10800000" swAng="5400000"/>
                <a:close/>
              </a:path>
            </a:pathLst>
          </a:custGeom>
          <a:solidFill>
            <a:srgbClr val="E8F0FA"/>
          </a:solidFill>
          <a:ln/>
        </p:spPr>
        <p:txBody>
          <a:bodyPr wrap="square" lIns="0" tIns="0" rIns="0" bIns="0" rtlCol="0" anchor="ctr">
            <a:normAutofit/>
          </a:bodyPr>
          <a:lstStyle/>
          <a:p>
            <a:pPr algn="ctr" indent="0" marL="0">
              <a:lnSpc>
                <a:spcPts val="1960"/>
              </a:lnSpc>
              <a:buNone/>
            </a:pPr>
            <a:r>
              <a:rPr lang="en-US" sz="1400" b="1" dirty="0">
                <a:solidFill>
                  <a:srgbClr val="2F5FA8"/>
                </a:solidFill>
                <a:latin typeface="IBM Plex Sans" pitchFamily="34" charset="0"/>
                <a:ea typeface="IBM Plex Sans" pitchFamily="34" charset="-122"/>
                <a:cs typeface="IBM Plex Sans" pitchFamily="34" charset="-120"/>
              </a:rPr>
              <a:t>01</a:t>
            </a:r>
            <a:endParaRPr lang="en-US" sz="1400" dirty="0"/>
          </a:p>
        </p:txBody>
      </p:sp>
      <p:sp>
        <p:nvSpPr>
          <p:cNvPr id="6" name="Text 4"/>
          <p:cNvSpPr/>
          <p:nvPr/>
        </p:nvSpPr>
        <p:spPr>
          <a:xfrm>
            <a:off x="1422335" y="2102535"/>
            <a:ext cx="10255582" cy="2691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9"/>
                </a:solidFill>
                <a:latin typeface="IBM Plex Sans" pitchFamily="34" charset="0"/>
                <a:ea typeface="IBM Plex Sans" pitchFamily="34" charset="-122"/>
                <a:cs typeface="IBM Plex Sans" pitchFamily="34" charset="-120"/>
              </a:rPr>
              <a:t>Build the model from scratch</a:t>
            </a:r>
            <a:endParaRPr lang="en-US" sz="1600" dirty="0"/>
          </a:p>
        </p:txBody>
      </p:sp>
      <p:sp>
        <p:nvSpPr>
          <p:cNvPr id="7" name="Text 5"/>
          <p:cNvSpPr/>
          <p:nvPr/>
        </p:nvSpPr>
        <p:spPr>
          <a:xfrm>
            <a:off x="1422335" y="2384363"/>
            <a:ext cx="10255582"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No scikit-learn. Every probability is computed, and shown, by hand.</a:t>
            </a:r>
            <a:endParaRPr lang="en-US" sz="1200" dirty="0"/>
          </a:p>
        </p:txBody>
      </p:sp>
      <p:sp>
        <p:nvSpPr>
          <p:cNvPr id="8" name="Shape 6"/>
          <p:cNvSpPr/>
          <p:nvPr/>
        </p:nvSpPr>
        <p:spPr>
          <a:xfrm>
            <a:off x="812763" y="3480432"/>
            <a:ext cx="10566447" cy="0"/>
          </a:xfrm>
          <a:prstGeom prst="line">
            <a:avLst/>
          </a:prstGeom>
          <a:noFill/>
          <a:ln w="6350">
            <a:solidFill>
              <a:srgbClr val="E2E6EA"/>
            </a:solidFill>
            <a:prstDash val="solid"/>
          </a:ln>
        </p:spPr>
      </p:sp>
      <p:sp>
        <p:nvSpPr>
          <p:cNvPr id="9" name="Text 7"/>
          <p:cNvSpPr/>
          <p:nvPr/>
        </p:nvSpPr>
        <p:spPr>
          <a:xfrm>
            <a:off x="812763" y="2900959"/>
            <a:ext cx="406381" cy="406381"/>
          </a:xfrm>
          <a:custGeom>
            <a:avLst/>
            <a:gdLst/>
            <a:ahLst/>
            <a:cxnLst/>
            <a:rect l="l" t="t" r="r" b="b"/>
            <a:pathLst>
              <a:path w="406381" h="406381">
                <a:moveTo>
                  <a:pt x="203191" y="0"/>
                </a:moveTo>
                <a:lnTo>
                  <a:pt x="203191" y="0"/>
                </a:lnTo>
                <a:arcTo hR="203191" wR="203191" stAng="16200000" swAng="5400000"/>
                <a:lnTo>
                  <a:pt x="406381" y="203191"/>
                </a:lnTo>
                <a:arcTo hR="203191" wR="203191" stAng="0" swAng="5400000"/>
                <a:lnTo>
                  <a:pt x="203191" y="406381"/>
                </a:lnTo>
                <a:arcTo hR="203191" wR="203191" stAng="5400000" swAng="5400000"/>
                <a:lnTo>
                  <a:pt x="0" y="203191"/>
                </a:lnTo>
                <a:arcTo hR="203191" wR="203191" stAng="10800000" swAng="5400000"/>
                <a:close/>
              </a:path>
            </a:pathLst>
          </a:custGeom>
          <a:solidFill>
            <a:srgbClr val="E8F0FA"/>
          </a:solidFill>
          <a:ln/>
        </p:spPr>
        <p:txBody>
          <a:bodyPr wrap="square" lIns="0" tIns="0" rIns="0" bIns="0" rtlCol="0" anchor="ctr">
            <a:normAutofit/>
          </a:bodyPr>
          <a:lstStyle/>
          <a:p>
            <a:pPr algn="ctr" indent="0" marL="0">
              <a:lnSpc>
                <a:spcPts val="1960"/>
              </a:lnSpc>
              <a:buNone/>
            </a:pPr>
            <a:r>
              <a:rPr lang="en-US" sz="1400" b="1" dirty="0">
                <a:solidFill>
                  <a:srgbClr val="2F5FA8"/>
                </a:solidFill>
                <a:latin typeface="IBM Plex Sans" pitchFamily="34" charset="0"/>
                <a:ea typeface="IBM Plex Sans" pitchFamily="34" charset="-122"/>
                <a:cs typeface="IBM Plex Sans" pitchFamily="34" charset="-120"/>
              </a:rPr>
              <a:t>02</a:t>
            </a:r>
            <a:endParaRPr lang="en-US" sz="1400" dirty="0"/>
          </a:p>
        </p:txBody>
      </p:sp>
      <p:sp>
        <p:nvSpPr>
          <p:cNvPr id="10" name="Text 8"/>
          <p:cNvSpPr/>
          <p:nvPr/>
        </p:nvSpPr>
        <p:spPr>
          <a:xfrm>
            <a:off x="1422335" y="2856568"/>
            <a:ext cx="10255582" cy="2691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9"/>
                </a:solidFill>
                <a:latin typeface="IBM Plex Sans" pitchFamily="34" charset="0"/>
                <a:ea typeface="IBM Plex Sans" pitchFamily="34" charset="-122"/>
                <a:cs typeface="IBM Plex Sans" pitchFamily="34" charset="-120"/>
              </a:rPr>
              <a:t>Train on real data only</a:t>
            </a:r>
            <a:endParaRPr lang="en-US" sz="1600" dirty="0"/>
          </a:p>
        </p:txBody>
      </p:sp>
      <p:sp>
        <p:nvSpPr>
          <p:cNvPr id="11" name="Text 9"/>
          <p:cNvSpPr/>
          <p:nvPr/>
        </p:nvSpPr>
        <p:spPr>
          <a:xfrm>
            <a:off x="1422335" y="3138396"/>
            <a:ext cx="10255582"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The entire training set comes from one real, published email corpus.</a:t>
            </a:r>
            <a:endParaRPr lang="en-US" sz="1200" dirty="0"/>
          </a:p>
        </p:txBody>
      </p:sp>
      <p:sp>
        <p:nvSpPr>
          <p:cNvPr id="12" name="Shape 10"/>
          <p:cNvSpPr/>
          <p:nvPr/>
        </p:nvSpPr>
        <p:spPr>
          <a:xfrm>
            <a:off x="812763" y="4234464"/>
            <a:ext cx="10566447" cy="0"/>
          </a:xfrm>
          <a:prstGeom prst="line">
            <a:avLst/>
          </a:prstGeom>
          <a:noFill/>
          <a:ln w="6350">
            <a:solidFill>
              <a:srgbClr val="E2E6EA"/>
            </a:solidFill>
            <a:prstDash val="solid"/>
          </a:ln>
        </p:spPr>
      </p:sp>
      <p:sp>
        <p:nvSpPr>
          <p:cNvPr id="13" name="Text 11"/>
          <p:cNvSpPr/>
          <p:nvPr/>
        </p:nvSpPr>
        <p:spPr>
          <a:xfrm>
            <a:off x="812763" y="3654991"/>
            <a:ext cx="406381" cy="406381"/>
          </a:xfrm>
          <a:custGeom>
            <a:avLst/>
            <a:gdLst/>
            <a:ahLst/>
            <a:cxnLst/>
            <a:rect l="l" t="t" r="r" b="b"/>
            <a:pathLst>
              <a:path w="406381" h="406381">
                <a:moveTo>
                  <a:pt x="203191" y="0"/>
                </a:moveTo>
                <a:lnTo>
                  <a:pt x="203191" y="0"/>
                </a:lnTo>
                <a:arcTo hR="203191" wR="203191" stAng="16200000" swAng="5400000"/>
                <a:lnTo>
                  <a:pt x="406381" y="203191"/>
                </a:lnTo>
                <a:arcTo hR="203191" wR="203191" stAng="0" swAng="5400000"/>
                <a:lnTo>
                  <a:pt x="203191" y="406381"/>
                </a:lnTo>
                <a:arcTo hR="203191" wR="203191" stAng="5400000" swAng="5400000"/>
                <a:lnTo>
                  <a:pt x="0" y="203191"/>
                </a:lnTo>
                <a:arcTo hR="203191" wR="203191" stAng="10800000" swAng="5400000"/>
                <a:close/>
              </a:path>
            </a:pathLst>
          </a:custGeom>
          <a:solidFill>
            <a:srgbClr val="E8F0FA"/>
          </a:solidFill>
          <a:ln/>
        </p:spPr>
        <p:txBody>
          <a:bodyPr wrap="square" lIns="0" tIns="0" rIns="0" bIns="0" rtlCol="0" anchor="ctr">
            <a:normAutofit/>
          </a:bodyPr>
          <a:lstStyle/>
          <a:p>
            <a:pPr algn="ctr" indent="0" marL="0">
              <a:lnSpc>
                <a:spcPts val="1960"/>
              </a:lnSpc>
              <a:buNone/>
            </a:pPr>
            <a:r>
              <a:rPr lang="en-US" sz="1400" b="1" dirty="0">
                <a:solidFill>
                  <a:srgbClr val="2F5FA8"/>
                </a:solidFill>
                <a:latin typeface="IBM Plex Sans" pitchFamily="34" charset="0"/>
                <a:ea typeface="IBM Plex Sans" pitchFamily="34" charset="-122"/>
                <a:cs typeface="IBM Plex Sans" pitchFamily="34" charset="-120"/>
              </a:rPr>
              <a:t>03</a:t>
            </a:r>
            <a:endParaRPr lang="en-US" sz="1400" dirty="0"/>
          </a:p>
        </p:txBody>
      </p:sp>
      <p:sp>
        <p:nvSpPr>
          <p:cNvPr id="14" name="Text 12"/>
          <p:cNvSpPr/>
          <p:nvPr/>
        </p:nvSpPr>
        <p:spPr>
          <a:xfrm>
            <a:off x="1422335" y="3610601"/>
            <a:ext cx="10255582" cy="2691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9"/>
                </a:solidFill>
                <a:latin typeface="IBM Plex Sans" pitchFamily="34" charset="0"/>
                <a:ea typeface="IBM Plex Sans" pitchFamily="34" charset="-122"/>
                <a:cs typeface="IBM Plex Sans" pitchFamily="34" charset="-120"/>
              </a:rPr>
              <a:t>Make it feel like a real inbox</a:t>
            </a:r>
            <a:endParaRPr lang="en-US" sz="1600" dirty="0"/>
          </a:p>
        </p:txBody>
      </p:sp>
      <p:sp>
        <p:nvSpPr>
          <p:cNvPr id="15" name="Text 13"/>
          <p:cNvSpPr/>
          <p:nvPr/>
        </p:nvSpPr>
        <p:spPr>
          <a:xfrm>
            <a:off x="1422335" y="3892429"/>
            <a:ext cx="10255582"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A working Gmail style mailbox, not just a script in a terminal.</a:t>
            </a:r>
            <a:endParaRPr lang="en-US" sz="1200" dirty="0"/>
          </a:p>
        </p:txBody>
      </p:sp>
      <p:sp>
        <p:nvSpPr>
          <p:cNvPr id="16" name="Shape 14"/>
          <p:cNvSpPr/>
          <p:nvPr/>
        </p:nvSpPr>
        <p:spPr>
          <a:xfrm>
            <a:off x="812763" y="4988497"/>
            <a:ext cx="10566447" cy="0"/>
          </a:xfrm>
          <a:prstGeom prst="line">
            <a:avLst/>
          </a:prstGeom>
          <a:noFill/>
          <a:ln w="6350">
            <a:solidFill>
              <a:srgbClr val="E2E6EA"/>
            </a:solidFill>
            <a:prstDash val="solid"/>
          </a:ln>
        </p:spPr>
      </p:sp>
      <p:sp>
        <p:nvSpPr>
          <p:cNvPr id="17" name="Text 15"/>
          <p:cNvSpPr/>
          <p:nvPr/>
        </p:nvSpPr>
        <p:spPr>
          <a:xfrm>
            <a:off x="812763" y="4409024"/>
            <a:ext cx="406381" cy="406381"/>
          </a:xfrm>
          <a:custGeom>
            <a:avLst/>
            <a:gdLst/>
            <a:ahLst/>
            <a:cxnLst/>
            <a:rect l="l" t="t" r="r" b="b"/>
            <a:pathLst>
              <a:path w="406381" h="406381">
                <a:moveTo>
                  <a:pt x="203191" y="0"/>
                </a:moveTo>
                <a:lnTo>
                  <a:pt x="203191" y="0"/>
                </a:lnTo>
                <a:arcTo hR="203191" wR="203191" stAng="16200000" swAng="5400000"/>
                <a:lnTo>
                  <a:pt x="406381" y="203191"/>
                </a:lnTo>
                <a:arcTo hR="203191" wR="203191" stAng="0" swAng="5400000"/>
                <a:lnTo>
                  <a:pt x="203191" y="406381"/>
                </a:lnTo>
                <a:arcTo hR="203191" wR="203191" stAng="5400000" swAng="5400000"/>
                <a:lnTo>
                  <a:pt x="0" y="203191"/>
                </a:lnTo>
                <a:arcTo hR="203191" wR="203191" stAng="10800000" swAng="5400000"/>
                <a:close/>
              </a:path>
            </a:pathLst>
          </a:custGeom>
          <a:solidFill>
            <a:srgbClr val="E8F0FA"/>
          </a:solidFill>
          <a:ln/>
        </p:spPr>
        <p:txBody>
          <a:bodyPr wrap="square" lIns="0" tIns="0" rIns="0" bIns="0" rtlCol="0" anchor="ctr">
            <a:normAutofit/>
          </a:bodyPr>
          <a:lstStyle/>
          <a:p>
            <a:pPr algn="ctr" indent="0" marL="0">
              <a:lnSpc>
                <a:spcPts val="1960"/>
              </a:lnSpc>
              <a:buNone/>
            </a:pPr>
            <a:r>
              <a:rPr lang="en-US" sz="1400" b="1" dirty="0">
                <a:solidFill>
                  <a:srgbClr val="2F5FA8"/>
                </a:solidFill>
                <a:latin typeface="IBM Plex Sans" pitchFamily="34" charset="0"/>
                <a:ea typeface="IBM Plex Sans" pitchFamily="34" charset="-122"/>
                <a:cs typeface="IBM Plex Sans" pitchFamily="34" charset="-120"/>
              </a:rPr>
              <a:t>04</a:t>
            </a:r>
            <a:endParaRPr lang="en-US" sz="1400" dirty="0"/>
          </a:p>
        </p:txBody>
      </p:sp>
      <p:sp>
        <p:nvSpPr>
          <p:cNvPr id="18" name="Text 16"/>
          <p:cNvSpPr/>
          <p:nvPr/>
        </p:nvSpPr>
        <p:spPr>
          <a:xfrm>
            <a:off x="1422335" y="4364633"/>
            <a:ext cx="10255582" cy="2691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9"/>
                </a:solidFill>
                <a:latin typeface="IBM Plex Sans" pitchFamily="34" charset="0"/>
                <a:ea typeface="IBM Plex Sans" pitchFamily="34" charset="-122"/>
                <a:cs typeface="IBM Plex Sans" pitchFamily="34" charset="-120"/>
              </a:rPr>
              <a:t>Explain every verdict</a:t>
            </a:r>
            <a:endParaRPr lang="en-US" sz="1600" dirty="0"/>
          </a:p>
        </p:txBody>
      </p:sp>
      <p:sp>
        <p:nvSpPr>
          <p:cNvPr id="19" name="Text 17"/>
          <p:cNvSpPr/>
          <p:nvPr/>
        </p:nvSpPr>
        <p:spPr>
          <a:xfrm>
            <a:off x="1422335" y="4646461"/>
            <a:ext cx="10255582"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Show the priors, the log probabilities, and the exact words that mattered.</a:t>
            </a:r>
            <a:endParaRPr lang="en-US" sz="1200" dirty="0"/>
          </a:p>
        </p:txBody>
      </p:sp>
      <p:sp>
        <p:nvSpPr>
          <p:cNvPr id="20" name="Text 18"/>
          <p:cNvSpPr/>
          <p:nvPr/>
        </p:nvSpPr>
        <p:spPr>
          <a:xfrm>
            <a:off x="812763" y="5163057"/>
            <a:ext cx="406381" cy="406381"/>
          </a:xfrm>
          <a:custGeom>
            <a:avLst/>
            <a:gdLst/>
            <a:ahLst/>
            <a:cxnLst/>
            <a:rect l="l" t="t" r="r" b="b"/>
            <a:pathLst>
              <a:path w="406381" h="406381">
                <a:moveTo>
                  <a:pt x="203191" y="0"/>
                </a:moveTo>
                <a:lnTo>
                  <a:pt x="203191" y="0"/>
                </a:lnTo>
                <a:arcTo hR="203191" wR="203191" stAng="16200000" swAng="5400000"/>
                <a:lnTo>
                  <a:pt x="406381" y="203191"/>
                </a:lnTo>
                <a:arcTo hR="203191" wR="203191" stAng="0" swAng="5400000"/>
                <a:lnTo>
                  <a:pt x="203191" y="406381"/>
                </a:lnTo>
                <a:arcTo hR="203191" wR="203191" stAng="5400000" swAng="5400000"/>
                <a:lnTo>
                  <a:pt x="0" y="203191"/>
                </a:lnTo>
                <a:arcTo hR="203191" wR="203191" stAng="10800000" swAng="5400000"/>
                <a:close/>
              </a:path>
            </a:pathLst>
          </a:custGeom>
          <a:solidFill>
            <a:srgbClr val="E8F0FA"/>
          </a:solidFill>
          <a:ln/>
        </p:spPr>
        <p:txBody>
          <a:bodyPr wrap="square" lIns="0" tIns="0" rIns="0" bIns="0" rtlCol="0" anchor="ctr">
            <a:normAutofit/>
          </a:bodyPr>
          <a:lstStyle/>
          <a:p>
            <a:pPr algn="ctr" indent="0" marL="0">
              <a:lnSpc>
                <a:spcPts val="1960"/>
              </a:lnSpc>
              <a:buNone/>
            </a:pPr>
            <a:r>
              <a:rPr lang="en-US" sz="1400" b="1" dirty="0">
                <a:solidFill>
                  <a:srgbClr val="2F5FA8"/>
                </a:solidFill>
                <a:latin typeface="IBM Plex Sans" pitchFamily="34" charset="0"/>
                <a:ea typeface="IBM Plex Sans" pitchFamily="34" charset="-122"/>
                <a:cs typeface="IBM Plex Sans" pitchFamily="34" charset="-120"/>
              </a:rPr>
              <a:t>05</a:t>
            </a:r>
            <a:endParaRPr lang="en-US" sz="1400" dirty="0"/>
          </a:p>
        </p:txBody>
      </p:sp>
      <p:sp>
        <p:nvSpPr>
          <p:cNvPr id="21" name="Text 19"/>
          <p:cNvSpPr/>
          <p:nvPr/>
        </p:nvSpPr>
        <p:spPr>
          <a:xfrm>
            <a:off x="1422335" y="5118666"/>
            <a:ext cx="10255582" cy="2691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9"/>
                </a:solidFill>
                <a:latin typeface="IBM Plex Sans" pitchFamily="34" charset="0"/>
                <a:ea typeface="IBM Plex Sans" pitchFamily="34" charset="-122"/>
                <a:cs typeface="IBM Plex Sans" pitchFamily="34" charset="-120"/>
              </a:rPr>
              <a:t>Report honest accuracy</a:t>
            </a:r>
            <a:endParaRPr lang="en-US" sz="1600" dirty="0"/>
          </a:p>
        </p:txBody>
      </p:sp>
      <p:sp>
        <p:nvSpPr>
          <p:cNvPr id="22" name="Text 20"/>
          <p:cNvSpPr/>
          <p:nvPr/>
        </p:nvSpPr>
        <p:spPr>
          <a:xfrm>
            <a:off x="1422335" y="5400494"/>
            <a:ext cx="10255582"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Measure performance only on email the model never trained on.</a:t>
            </a:r>
            <a:endParaRPr lang="en-US" sz="1200" dirty="0"/>
          </a:p>
        </p:txBody>
      </p:sp>
      <p:sp>
        <p:nvSpPr>
          <p:cNvPr id="23" name="Text 21"/>
          <p:cNvSpPr/>
          <p:nvPr/>
        </p:nvSpPr>
        <p:spPr>
          <a:xfrm>
            <a:off x="812763" y="6238273"/>
            <a:ext cx="1028035"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Introduction</a:t>
            </a:r>
            <a:endParaRPr lang="en-US" sz="1200" dirty="0"/>
          </a:p>
        </p:txBody>
      </p:sp>
      <p:sp>
        <p:nvSpPr>
          <p:cNvPr id="24" name="Text 22"/>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03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812761"/>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BACKGROUND</a:t>
            </a:r>
            <a:endParaRPr lang="en-US" sz="1200" dirty="0"/>
          </a:p>
        </p:txBody>
      </p:sp>
      <p:sp>
        <p:nvSpPr>
          <p:cNvPr id="3" name="Text 1"/>
          <p:cNvSpPr/>
          <p:nvPr>
            <p:ph type="title"/>
          </p:nvPr>
        </p:nvSpPr>
        <p:spPr>
          <a:xfrm>
            <a:off x="812763" y="1153091"/>
            <a:ext cx="10883441" cy="448943"/>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C2B39"/>
                </a:solidFill>
                <a:latin typeface="Source Serif 4" pitchFamily="18" charset="0"/>
                <a:ea typeface="Source Serif 4" pitchFamily="18" charset="-122"/>
                <a:cs typeface="Source Serif 4" pitchFamily="18" charset="-120"/>
              </a:rPr>
              <a:t>Keyword filters versus a statistical model</a:t>
            </a:r>
            <a:endParaRPr lang="en-US" sz="2900" dirty="0"/>
          </a:p>
        </p:txBody>
      </p:sp>
      <p:sp>
        <p:nvSpPr>
          <p:cNvPr id="4" name="Shape 2"/>
          <p:cNvSpPr/>
          <p:nvPr/>
        </p:nvSpPr>
        <p:spPr>
          <a:xfrm>
            <a:off x="815938" y="1859195"/>
            <a:ext cx="5149841" cy="3979665"/>
          </a:xfrm>
          <a:prstGeom prst="roundRect">
            <a:avLst>
              <a:gd name="adj" fmla="val 2473"/>
            </a:avLst>
          </a:prstGeom>
          <a:solidFill>
            <a:srgbClr val="FFFFFF"/>
          </a:solidFill>
          <a:ln w="6350">
            <a:solidFill>
              <a:srgbClr val="E2E6EA"/>
            </a:solidFill>
            <a:prstDash val="solid"/>
          </a:ln>
        </p:spPr>
      </p:sp>
      <p:sp>
        <p:nvSpPr>
          <p:cNvPr id="5" name="Text 3"/>
          <p:cNvSpPr/>
          <p:nvPr/>
        </p:nvSpPr>
        <p:spPr>
          <a:xfrm>
            <a:off x="1097031" y="2140290"/>
            <a:ext cx="4725284" cy="284499"/>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9"/>
                </a:solidFill>
                <a:latin typeface="IBM Plex Sans" pitchFamily="34" charset="0"/>
                <a:ea typeface="IBM Plex Sans" pitchFamily="34" charset="-122"/>
                <a:cs typeface="IBM Plex Sans" pitchFamily="34" charset="-120"/>
              </a:rPr>
              <a:t>Keyword filters</a:t>
            </a:r>
            <a:endParaRPr lang="en-US" sz="1700" dirty="0"/>
          </a:p>
        </p:txBody>
      </p:sp>
      <p:sp>
        <p:nvSpPr>
          <p:cNvPr id="6" name="Text 4"/>
          <p:cNvSpPr/>
          <p:nvPr/>
        </p:nvSpPr>
        <p:spPr>
          <a:xfrm>
            <a:off x="1189106" y="2551781"/>
            <a:ext cx="4625589" cy="1596466"/>
          </a:xfrm>
          <a:prstGeom prst="rect">
            <a:avLst/>
          </a:prstGeom>
          <a:noFill/>
          <a:ln/>
        </p:spPr>
        <p:txBody>
          <a:bodyPr wrap="square" lIns="0" tIns="0" rIns="0" bIns="0" rtlCol="0" anchor="t">
            <a:normAutofit/>
          </a:bodyPr>
          <a:lstStyle/>
          <a:p>
            <a:pPr algn="l" marL="161925" indent="-161925">
              <a:lnSpc>
                <a:spcPts val="2063"/>
              </a:lnSpc>
              <a:buSzPct val="100000"/>
              <a:buChar char="•"/>
            </a:pPr>
            <a:r>
              <a:rPr lang="en-US" sz="1250" dirty="0">
                <a:solidFill>
                  <a:srgbClr val="46525C"/>
                </a:solidFill>
                <a:latin typeface="IBM Plex Sans" pitchFamily="34" charset="0"/>
                <a:ea typeface="IBM Plex Sans" pitchFamily="34" charset="-122"/>
                <a:cs typeface="IBM Plex Sans" pitchFamily="34" charset="-120"/>
              </a:rPr>
              <a:t>Matches a fixed blocklist of words or phrases</a:t>
            </a:r>
            <a:endParaRPr lang="en-US" sz="1250" dirty="0"/>
          </a:p>
          <a:p>
            <a:pPr algn="l" marL="161925" indent="-161925">
              <a:lnSpc>
                <a:spcPts val="2063"/>
              </a:lnSpc>
              <a:buSzPct val="100000"/>
              <a:buChar char="•"/>
            </a:pPr>
            <a:r>
              <a:rPr lang="en-US" sz="1250" dirty="0">
                <a:solidFill>
                  <a:srgbClr val="46525C"/>
                </a:solidFill>
                <a:latin typeface="IBM Plex Sans" pitchFamily="34" charset="0"/>
                <a:ea typeface="IBM Plex Sans" pitchFamily="34" charset="-122"/>
                <a:cs typeface="IBM Plex Sans" pitchFamily="34" charset="-120"/>
              </a:rPr>
              <a:t>Easy to write, just as easy to defeat with a misspelling or a stray space</a:t>
            </a:r>
            <a:endParaRPr lang="en-US" sz="1250" dirty="0"/>
          </a:p>
          <a:p>
            <a:pPr algn="l" marL="161925" indent="-161925">
              <a:lnSpc>
                <a:spcPts val="2063"/>
              </a:lnSpc>
              <a:buSzPct val="100000"/>
              <a:buChar char="•"/>
            </a:pPr>
            <a:r>
              <a:rPr lang="en-US" sz="1250" dirty="0">
                <a:solidFill>
                  <a:srgbClr val="46525C"/>
                </a:solidFill>
                <a:latin typeface="IBM Plex Sans" pitchFamily="34" charset="0"/>
                <a:ea typeface="IBM Plex Sans" pitchFamily="34" charset="-122"/>
                <a:cs typeface="IBM Plex Sans" pitchFamily="34" charset="-120"/>
              </a:rPr>
              <a:t>Cannot judge wording it has never seen</a:t>
            </a:r>
            <a:endParaRPr lang="en-US" sz="1250" dirty="0"/>
          </a:p>
          <a:p>
            <a:pPr algn="l" marL="161925" indent="-161925">
              <a:lnSpc>
                <a:spcPts val="2063"/>
              </a:lnSpc>
              <a:buSzPct val="100000"/>
              <a:buChar char="•"/>
            </a:pPr>
            <a:r>
              <a:rPr lang="en-US" sz="1250" dirty="0">
                <a:solidFill>
                  <a:srgbClr val="46525C"/>
                </a:solidFill>
                <a:latin typeface="IBM Plex Sans" pitchFamily="34" charset="0"/>
                <a:ea typeface="IBM Plex Sans" pitchFamily="34" charset="-122"/>
                <a:cs typeface="IBM Plex Sans" pitchFamily="34" charset="-120"/>
              </a:rPr>
              <a:t>Blocks or allows the whole message as one flat yes or no rule</a:t>
            </a:r>
            <a:endParaRPr lang="en-US" sz="1250" dirty="0"/>
          </a:p>
        </p:txBody>
      </p:sp>
      <p:sp>
        <p:nvSpPr>
          <p:cNvPr id="7" name="Shape 5"/>
          <p:cNvSpPr/>
          <p:nvPr/>
        </p:nvSpPr>
        <p:spPr>
          <a:xfrm>
            <a:off x="6226117" y="1859195"/>
            <a:ext cx="5149918" cy="3979665"/>
          </a:xfrm>
          <a:prstGeom prst="roundRect">
            <a:avLst>
              <a:gd name="adj" fmla="val 2473"/>
            </a:avLst>
          </a:prstGeom>
          <a:solidFill>
            <a:srgbClr val="FFFFFF"/>
          </a:solidFill>
          <a:ln w="6350">
            <a:solidFill>
              <a:srgbClr val="E2E6EA"/>
            </a:solidFill>
            <a:prstDash val="solid"/>
          </a:ln>
        </p:spPr>
      </p:sp>
      <p:sp>
        <p:nvSpPr>
          <p:cNvPr id="8" name="Text 6"/>
          <p:cNvSpPr/>
          <p:nvPr/>
        </p:nvSpPr>
        <p:spPr>
          <a:xfrm>
            <a:off x="6507211" y="2140290"/>
            <a:ext cx="4725362" cy="284499"/>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9"/>
                </a:solidFill>
                <a:latin typeface="IBM Plex Sans" pitchFamily="34" charset="0"/>
                <a:ea typeface="IBM Plex Sans" pitchFamily="34" charset="-122"/>
                <a:cs typeface="IBM Plex Sans" pitchFamily="34" charset="-120"/>
              </a:rPr>
              <a:t>Naive Bayes, this project</a:t>
            </a:r>
            <a:endParaRPr lang="en-US" sz="1700" dirty="0"/>
          </a:p>
        </p:txBody>
      </p:sp>
      <p:sp>
        <p:nvSpPr>
          <p:cNvPr id="9" name="Text 7"/>
          <p:cNvSpPr/>
          <p:nvPr/>
        </p:nvSpPr>
        <p:spPr>
          <a:xfrm>
            <a:off x="6599286" y="2551781"/>
            <a:ext cx="4625667" cy="1858311"/>
          </a:xfrm>
          <a:prstGeom prst="rect">
            <a:avLst/>
          </a:prstGeom>
          <a:noFill/>
          <a:ln/>
        </p:spPr>
        <p:txBody>
          <a:bodyPr wrap="square" lIns="0" tIns="0" rIns="0" bIns="0" rtlCol="0" anchor="t">
            <a:normAutofit/>
          </a:bodyPr>
          <a:lstStyle/>
          <a:p>
            <a:pPr algn="l" marL="161925" indent="-161925">
              <a:lnSpc>
                <a:spcPts val="2063"/>
              </a:lnSpc>
              <a:buSzPct val="100000"/>
              <a:buChar char="•"/>
            </a:pPr>
            <a:r>
              <a:rPr lang="en-US" sz="1250" dirty="0">
                <a:solidFill>
                  <a:srgbClr val="46525C"/>
                </a:solidFill>
                <a:latin typeface="IBM Plex Sans" pitchFamily="34" charset="0"/>
                <a:ea typeface="IBM Plex Sans" pitchFamily="34" charset="-122"/>
                <a:cs typeface="IBM Plex Sans" pitchFamily="34" charset="-120"/>
              </a:rPr>
              <a:t>Learns how statistically associated every word is with spam, from real examples</a:t>
            </a:r>
            <a:endParaRPr lang="en-US" sz="1250" dirty="0"/>
          </a:p>
          <a:p>
            <a:pPr algn="l" marL="161925" indent="-161925">
              <a:lnSpc>
                <a:spcPts val="2063"/>
              </a:lnSpc>
              <a:buSzPct val="100000"/>
              <a:buChar char="•"/>
            </a:pPr>
            <a:r>
              <a:rPr lang="en-US" sz="1250" dirty="0">
                <a:solidFill>
                  <a:srgbClr val="46525C"/>
                </a:solidFill>
                <a:latin typeface="IBM Plex Sans" pitchFamily="34" charset="0"/>
                <a:ea typeface="IBM Plex Sans" pitchFamily="34" charset="-122"/>
                <a:cs typeface="IBM Plex Sans" pitchFamily="34" charset="-120"/>
              </a:rPr>
              <a:t>Combines all of a message's words into one spam probability</a:t>
            </a:r>
            <a:endParaRPr lang="en-US" sz="1250" dirty="0"/>
          </a:p>
          <a:p>
            <a:pPr algn="l" marL="161925" indent="-161925">
              <a:lnSpc>
                <a:spcPts val="2063"/>
              </a:lnSpc>
              <a:buSzPct val="100000"/>
              <a:buChar char="•"/>
            </a:pPr>
            <a:r>
              <a:rPr lang="en-US" sz="1250" dirty="0">
                <a:solidFill>
                  <a:srgbClr val="46525C"/>
                </a:solidFill>
                <a:latin typeface="IBM Plex Sans" pitchFamily="34" charset="0"/>
                <a:ea typeface="IBM Plex Sans" pitchFamily="34" charset="-122"/>
                <a:cs typeface="IBM Plex Sans" pitchFamily="34" charset="-120"/>
              </a:rPr>
              <a:t>Can catch spam phrased in new ways, if the wording looks statistically similar</a:t>
            </a:r>
            <a:endParaRPr lang="en-US" sz="1250" dirty="0"/>
          </a:p>
          <a:p>
            <a:pPr algn="l" marL="161925" indent="-161925">
              <a:lnSpc>
                <a:spcPts val="2063"/>
              </a:lnSpc>
              <a:buSzPct val="100000"/>
              <a:buChar char="•"/>
            </a:pPr>
            <a:r>
              <a:rPr lang="en-US" sz="1250" dirty="0">
                <a:solidFill>
                  <a:srgbClr val="46525C"/>
                </a:solidFill>
                <a:latin typeface="IBM Plex Sans" pitchFamily="34" charset="0"/>
                <a:ea typeface="IBM Plex Sans" pitchFamily="34" charset="-122"/>
                <a:cs typeface="IBM Plex Sans" pitchFamily="34" charset="-120"/>
              </a:rPr>
              <a:t>Every verdict comes with a number and a reason, never just a flag</a:t>
            </a:r>
            <a:endParaRPr lang="en-US" sz="1250" dirty="0"/>
          </a:p>
        </p:txBody>
      </p:sp>
      <p:sp>
        <p:nvSpPr>
          <p:cNvPr id="10" name="Text 8"/>
          <p:cNvSpPr/>
          <p:nvPr/>
        </p:nvSpPr>
        <p:spPr>
          <a:xfrm>
            <a:off x="812763" y="6238273"/>
            <a:ext cx="982637"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Background</a:t>
            </a:r>
            <a:endParaRPr lang="en-US" sz="1200" dirty="0"/>
          </a:p>
        </p:txBody>
      </p:sp>
      <p:sp>
        <p:nvSpPr>
          <p:cNvPr id="11" name="Text 9"/>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04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761966"/>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BACKGROUND</a:t>
            </a:r>
            <a:endParaRPr lang="en-US" sz="1200" dirty="0"/>
          </a:p>
        </p:txBody>
      </p:sp>
      <p:sp>
        <p:nvSpPr>
          <p:cNvPr id="3" name="Text 1"/>
          <p:cNvSpPr/>
          <p:nvPr>
            <p:ph type="title"/>
          </p:nvPr>
        </p:nvSpPr>
        <p:spPr>
          <a:xfrm>
            <a:off x="812763" y="1102296"/>
            <a:ext cx="10883441" cy="448943"/>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C2B39"/>
                </a:solidFill>
                <a:latin typeface="Source Serif 4" pitchFamily="18" charset="0"/>
                <a:ea typeface="Source Serif 4" pitchFamily="18" charset="-122"/>
                <a:cs typeface="Source Serif 4" pitchFamily="18" charset="-120"/>
              </a:rPr>
              <a:t>The data behind the model</a:t>
            </a:r>
            <a:endParaRPr lang="en-US" sz="2900" dirty="0"/>
          </a:p>
        </p:txBody>
      </p:sp>
      <p:sp>
        <p:nvSpPr>
          <p:cNvPr id="4" name="Shape 2"/>
          <p:cNvSpPr/>
          <p:nvPr/>
        </p:nvSpPr>
        <p:spPr>
          <a:xfrm>
            <a:off x="815938" y="1783001"/>
            <a:ext cx="3397246" cy="1242845"/>
          </a:xfrm>
          <a:prstGeom prst="roundRect">
            <a:avLst>
              <a:gd name="adj" fmla="val 7919"/>
            </a:avLst>
          </a:prstGeom>
          <a:solidFill>
            <a:srgbClr val="FFFFFF"/>
          </a:solidFill>
          <a:ln w="6350">
            <a:solidFill>
              <a:srgbClr val="E2E6EA"/>
            </a:solidFill>
            <a:prstDash val="solid"/>
          </a:ln>
        </p:spPr>
      </p:sp>
      <p:sp>
        <p:nvSpPr>
          <p:cNvPr id="5" name="Text 3"/>
          <p:cNvSpPr/>
          <p:nvPr/>
        </p:nvSpPr>
        <p:spPr>
          <a:xfrm>
            <a:off x="1707473" y="1987897"/>
            <a:ext cx="1614176" cy="594319"/>
          </a:xfrm>
          <a:prstGeom prst="rect">
            <a:avLst/>
          </a:prstGeom>
          <a:noFill/>
          <a:ln/>
        </p:spPr>
        <p:txBody>
          <a:bodyPr wrap="square" lIns="0" tIns="0" rIns="0" bIns="0" rtlCol="0" anchor="t">
            <a:normAutofit/>
          </a:bodyPr>
          <a:lstStyle/>
          <a:p>
            <a:pPr algn="ctr" indent="0" marL="0">
              <a:lnSpc>
                <a:spcPts val="4480"/>
              </a:lnSpc>
              <a:buNone/>
            </a:pPr>
            <a:r>
              <a:rPr lang="en-US" sz="3200" b="1" dirty="0">
                <a:solidFill>
                  <a:srgbClr val="2F5FA8"/>
                </a:solidFill>
                <a:latin typeface="IBM Plex Sans" pitchFamily="34" charset="0"/>
                <a:ea typeface="IBM Plex Sans" pitchFamily="34" charset="-122"/>
                <a:cs typeface="IBM Plex Sans" pitchFamily="34" charset="-120"/>
              </a:rPr>
              <a:t>33,716</a:t>
            </a:r>
            <a:endParaRPr lang="en-US" sz="3200" dirty="0"/>
          </a:p>
        </p:txBody>
      </p:sp>
      <p:sp>
        <p:nvSpPr>
          <p:cNvPr id="6" name="Text 4"/>
          <p:cNvSpPr/>
          <p:nvPr/>
        </p:nvSpPr>
        <p:spPr>
          <a:xfrm>
            <a:off x="1839913" y="2607614"/>
            <a:ext cx="1349296"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Total real emails</a:t>
            </a:r>
            <a:endParaRPr lang="en-US" sz="1200" dirty="0"/>
          </a:p>
        </p:txBody>
      </p:sp>
      <p:sp>
        <p:nvSpPr>
          <p:cNvPr id="7" name="Shape 5"/>
          <p:cNvSpPr/>
          <p:nvPr/>
        </p:nvSpPr>
        <p:spPr>
          <a:xfrm>
            <a:off x="4397325" y="1783001"/>
            <a:ext cx="3397322" cy="1242845"/>
          </a:xfrm>
          <a:prstGeom prst="roundRect">
            <a:avLst>
              <a:gd name="adj" fmla="val 7919"/>
            </a:avLst>
          </a:prstGeom>
          <a:solidFill>
            <a:srgbClr val="FFFFFF"/>
          </a:solidFill>
          <a:ln w="6350">
            <a:solidFill>
              <a:srgbClr val="E2E6EA"/>
            </a:solidFill>
            <a:prstDash val="solid"/>
          </a:ln>
        </p:spPr>
      </p:sp>
      <p:sp>
        <p:nvSpPr>
          <p:cNvPr id="8" name="Text 6"/>
          <p:cNvSpPr/>
          <p:nvPr/>
        </p:nvSpPr>
        <p:spPr>
          <a:xfrm>
            <a:off x="5288861" y="1987897"/>
            <a:ext cx="1614176" cy="594319"/>
          </a:xfrm>
          <a:prstGeom prst="rect">
            <a:avLst/>
          </a:prstGeom>
          <a:noFill/>
          <a:ln/>
        </p:spPr>
        <p:txBody>
          <a:bodyPr wrap="square" lIns="0" tIns="0" rIns="0" bIns="0" rtlCol="0" anchor="t">
            <a:normAutofit/>
          </a:bodyPr>
          <a:lstStyle/>
          <a:p>
            <a:pPr algn="ctr" indent="0" marL="0">
              <a:lnSpc>
                <a:spcPts val="4480"/>
              </a:lnSpc>
              <a:buNone/>
            </a:pPr>
            <a:r>
              <a:rPr lang="en-US" sz="3200" b="1" dirty="0">
                <a:solidFill>
                  <a:srgbClr val="B54708"/>
                </a:solidFill>
                <a:latin typeface="IBM Plex Sans" pitchFamily="34" charset="0"/>
                <a:ea typeface="IBM Plex Sans" pitchFamily="34" charset="-122"/>
                <a:cs typeface="IBM Plex Sans" pitchFamily="34" charset="-120"/>
              </a:rPr>
              <a:t>17,171</a:t>
            </a:r>
            <a:endParaRPr lang="en-US" sz="3200" dirty="0"/>
          </a:p>
        </p:txBody>
      </p:sp>
      <p:sp>
        <p:nvSpPr>
          <p:cNvPr id="9" name="Text 7"/>
          <p:cNvSpPr/>
          <p:nvPr/>
        </p:nvSpPr>
        <p:spPr>
          <a:xfrm>
            <a:off x="5522255" y="2607614"/>
            <a:ext cx="1147386"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Labeled spam</a:t>
            </a:r>
            <a:endParaRPr lang="en-US" sz="1200" dirty="0"/>
          </a:p>
        </p:txBody>
      </p:sp>
      <p:sp>
        <p:nvSpPr>
          <p:cNvPr id="10" name="Shape 8"/>
          <p:cNvSpPr/>
          <p:nvPr/>
        </p:nvSpPr>
        <p:spPr>
          <a:xfrm>
            <a:off x="7978789" y="1783001"/>
            <a:ext cx="3397246" cy="1242845"/>
          </a:xfrm>
          <a:prstGeom prst="roundRect">
            <a:avLst>
              <a:gd name="adj" fmla="val 7919"/>
            </a:avLst>
          </a:prstGeom>
          <a:solidFill>
            <a:srgbClr val="FFFFFF"/>
          </a:solidFill>
          <a:ln w="6350">
            <a:solidFill>
              <a:srgbClr val="E2E6EA"/>
            </a:solidFill>
            <a:prstDash val="solid"/>
          </a:ln>
        </p:spPr>
      </p:sp>
      <p:sp>
        <p:nvSpPr>
          <p:cNvPr id="11" name="Text 9"/>
          <p:cNvSpPr/>
          <p:nvPr/>
        </p:nvSpPr>
        <p:spPr>
          <a:xfrm>
            <a:off x="8870324" y="1987897"/>
            <a:ext cx="1614176" cy="594319"/>
          </a:xfrm>
          <a:prstGeom prst="rect">
            <a:avLst/>
          </a:prstGeom>
          <a:noFill/>
          <a:ln/>
        </p:spPr>
        <p:txBody>
          <a:bodyPr wrap="square" lIns="0" tIns="0" rIns="0" bIns="0" rtlCol="0" anchor="t">
            <a:normAutofit/>
          </a:bodyPr>
          <a:lstStyle/>
          <a:p>
            <a:pPr algn="ctr" indent="0" marL="0">
              <a:lnSpc>
                <a:spcPts val="4480"/>
              </a:lnSpc>
              <a:buNone/>
            </a:pPr>
            <a:r>
              <a:rPr lang="en-US" sz="3200" b="1" dirty="0">
                <a:solidFill>
                  <a:srgbClr val="1C2B39"/>
                </a:solidFill>
                <a:latin typeface="IBM Plex Sans" pitchFamily="34" charset="0"/>
                <a:ea typeface="IBM Plex Sans" pitchFamily="34" charset="-122"/>
                <a:cs typeface="IBM Plex Sans" pitchFamily="34" charset="-120"/>
              </a:rPr>
              <a:t>16,545</a:t>
            </a:r>
            <a:endParaRPr lang="en-US" sz="3200" dirty="0"/>
          </a:p>
        </p:txBody>
      </p:sp>
      <p:sp>
        <p:nvSpPr>
          <p:cNvPr id="12" name="Text 10"/>
          <p:cNvSpPr/>
          <p:nvPr/>
        </p:nvSpPr>
        <p:spPr>
          <a:xfrm>
            <a:off x="8692944" y="2607614"/>
            <a:ext cx="1968936"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Labeled legitimate, ham</a:t>
            </a:r>
            <a:endParaRPr lang="en-US" sz="1200" dirty="0"/>
          </a:p>
        </p:txBody>
      </p:sp>
      <p:sp>
        <p:nvSpPr>
          <p:cNvPr id="13" name="Text 11"/>
          <p:cNvSpPr/>
          <p:nvPr/>
        </p:nvSpPr>
        <p:spPr>
          <a:xfrm>
            <a:off x="812763" y="3283009"/>
            <a:ext cx="10566447" cy="1280010"/>
          </a:xfrm>
          <a:prstGeom prst="roundRect">
            <a:avLst>
              <a:gd name="adj" fmla="val 7937"/>
            </a:avLst>
          </a:prstGeom>
          <a:solidFill>
            <a:srgbClr val="F1F5F8"/>
          </a:solidFill>
          <a:ln/>
        </p:spPr>
        <p:txBody>
          <a:bodyPr wrap="square" lIns="249629" tIns="198842" rIns="0" bIns="173421" rtlCol="0" anchor="t">
            <a:normAutofit/>
          </a:bodyPr>
          <a:lstStyle/>
          <a:p>
            <a:pPr algn="l" indent="0" marL="0">
              <a:lnSpc>
                <a:spcPts val="2160"/>
              </a:lnSpc>
              <a:buNone/>
            </a:pPr>
            <a:r>
              <a:rPr lang="en-US" sz="1350" dirty="0">
                <a:solidFill>
                  <a:srgbClr val="334049"/>
                </a:solidFill>
                <a:latin typeface="IBM Plex Sans" pitchFamily="34" charset="0"/>
                <a:ea typeface="IBM Plex Sans" pitchFamily="34" charset="-122"/>
                <a:cs typeface="IBM Plex Sans" pitchFamily="34" charset="-120"/>
              </a:rPr>
              <a:t>Of these, 33,672 emails are used to train the model. The remaining 35 are set aside before training even starts, by matching exact email text, not just a row number, since this corpus has many verbatim duplicate emails. Every email the live app shows you, in the inbox and in the Spam Detector presets, is one the model has genuinely never seen.</a:t>
            </a:r>
            <a:endParaRPr lang="en-US" sz="1350" dirty="0"/>
          </a:p>
        </p:txBody>
      </p:sp>
      <p:sp>
        <p:nvSpPr>
          <p:cNvPr id="14" name="Text 12"/>
          <p:cNvSpPr/>
          <p:nvPr/>
        </p:nvSpPr>
        <p:spPr>
          <a:xfrm>
            <a:off x="812763" y="4817008"/>
            <a:ext cx="10883441" cy="482579"/>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A95A1"/>
                </a:solidFill>
                <a:latin typeface="IBM Plex Sans" pitchFamily="34" charset="0"/>
                <a:ea typeface="IBM Plex Sans" pitchFamily="34" charset="-122"/>
                <a:cs typeface="IBM Plex Sans" pitchFamily="34" charset="-120"/>
              </a:rPr>
              <a:t>Source: Enron-Spam corpus. V. Metsis, I. Androutsopoulos, and G. Paliouras, "Spam Filtering with Naive Bayes, Which Naive Bayes?", CEAS 2006. Downloaded from a public GitHub mirror of the same released dataset.</a:t>
            </a:r>
            <a:endParaRPr lang="en-US" sz="1200" dirty="0"/>
          </a:p>
        </p:txBody>
      </p:sp>
      <p:sp>
        <p:nvSpPr>
          <p:cNvPr id="15" name="Text 13"/>
          <p:cNvSpPr/>
          <p:nvPr/>
        </p:nvSpPr>
        <p:spPr>
          <a:xfrm>
            <a:off x="812763" y="6238273"/>
            <a:ext cx="982637"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Background</a:t>
            </a:r>
            <a:endParaRPr lang="en-US" sz="1200" dirty="0"/>
          </a:p>
        </p:txBody>
      </p:sp>
      <p:sp>
        <p:nvSpPr>
          <p:cNvPr id="16" name="Text 14"/>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05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660369"/>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THE METHOD · STEP 1 OF 3</a:t>
            </a:r>
            <a:endParaRPr lang="en-US" sz="1200" dirty="0"/>
          </a:p>
        </p:txBody>
      </p:sp>
      <p:sp>
        <p:nvSpPr>
          <p:cNvPr id="3" name="Text 1"/>
          <p:cNvSpPr/>
          <p:nvPr>
            <p:ph type="title"/>
          </p:nvPr>
        </p:nvSpPr>
        <p:spPr>
          <a:xfrm>
            <a:off x="812763" y="962561"/>
            <a:ext cx="10883441" cy="419730"/>
          </a:xfrm>
          <a:prstGeom prst="rect">
            <a:avLst/>
          </a:prstGeom>
          <a:noFill/>
          <a:ln/>
        </p:spPr>
        <p:txBody>
          <a:bodyPr wrap="square" lIns="0" tIns="0" rIns="0" bIns="0" rtlCol="0" anchor="t">
            <a:normAutofit/>
          </a:bodyPr>
          <a:lstStyle/>
          <a:p>
            <a:pPr algn="l" indent="0" marL="0">
              <a:lnSpc>
                <a:spcPts val="3105"/>
              </a:lnSpc>
              <a:buNone/>
            </a:pPr>
            <a:r>
              <a:rPr lang="en-US" sz="2700" b="1" i="0" dirty="0">
                <a:solidFill>
                  <a:srgbClr val="1C2B39"/>
                </a:solidFill>
                <a:latin typeface="Source Serif 4" pitchFamily="18" charset="0"/>
                <a:ea typeface="Source Serif 4" pitchFamily="18" charset="-122"/>
                <a:cs typeface="Source Serif 4" pitchFamily="18" charset="-120"/>
              </a:rPr>
              <a:t>The idea: Bayes' theorem</a:t>
            </a:r>
            <a:endParaRPr lang="en-US" sz="2700" dirty="0"/>
          </a:p>
        </p:txBody>
      </p:sp>
      <p:sp>
        <p:nvSpPr>
          <p:cNvPr id="4" name="Shape 2"/>
          <p:cNvSpPr/>
          <p:nvPr/>
        </p:nvSpPr>
        <p:spPr>
          <a:xfrm>
            <a:off x="815938" y="1537860"/>
            <a:ext cx="10560097" cy="1211040"/>
          </a:xfrm>
          <a:prstGeom prst="roundRect">
            <a:avLst>
              <a:gd name="adj" fmla="val 10225"/>
            </a:avLst>
          </a:prstGeom>
          <a:solidFill>
            <a:srgbClr val="FFFFFF"/>
          </a:solidFill>
          <a:ln w="6350">
            <a:solidFill>
              <a:srgbClr val="E2E6EA"/>
            </a:solidFill>
            <a:prstDash val="solid"/>
          </a:ln>
        </p:spPr>
      </p:sp>
      <p:sp>
        <p:nvSpPr>
          <p:cNvPr id="5" name="Text 3"/>
          <p:cNvSpPr/>
          <p:nvPr/>
        </p:nvSpPr>
        <p:spPr>
          <a:xfrm>
            <a:off x="2745743" y="1974472"/>
            <a:ext cx="2890433" cy="363212"/>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C2B39"/>
                </a:solidFill>
                <a:latin typeface="JetBrains Mono" pitchFamily="49" charset="0"/>
                <a:ea typeface="JetBrains Mono" pitchFamily="49" charset="-122"/>
                <a:cs typeface="JetBrains Mono" pitchFamily="49" charset="-120"/>
              </a:rPr>
              <a:t>P(spam | message) =</a:t>
            </a:r>
            <a:endParaRPr lang="en-US" sz="1900" dirty="0"/>
          </a:p>
        </p:txBody>
      </p:sp>
      <p:sp>
        <p:nvSpPr>
          <p:cNvPr id="6" name="Text 4"/>
          <p:cNvSpPr/>
          <p:nvPr/>
        </p:nvSpPr>
        <p:spPr>
          <a:xfrm>
            <a:off x="5644604" y="1768156"/>
            <a:ext cx="3793121" cy="327669"/>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2F5FA8"/>
                </a:solidFill>
                <a:latin typeface="JetBrains Mono" pitchFamily="49" charset="0"/>
                <a:ea typeface="JetBrains Mono" pitchFamily="49" charset="-122"/>
                <a:cs typeface="JetBrains Mono" pitchFamily="49" charset="-120"/>
              </a:rPr>
              <a:t>P(message | spam) × P(spam)</a:t>
            </a:r>
            <a:endParaRPr lang="en-US" sz="1700" dirty="0"/>
          </a:p>
        </p:txBody>
      </p:sp>
      <p:pic>
        <p:nvPicPr>
          <p:cNvPr id="7" name="Image 0" descr="line">    </p:cNvPr>
          <p:cNvPicPr>
            <a:picLocks noChangeAspect="1"/>
          </p:cNvPicPr>
          <p:nvPr/>
        </p:nvPicPr>
        <p:blipFill>
          <a:blip r:embed="rId1"/>
          <a:srcRect l="-153" r="-153" t="0" b="0"/>
          <a:stretch/>
        </p:blipFill>
        <p:spPr>
          <a:xfrm>
            <a:off x="5636176" y="2133882"/>
            <a:ext cx="3809977" cy="18992"/>
          </a:xfrm>
          <a:prstGeom prst="rect">
            <a:avLst/>
          </a:prstGeom>
        </p:spPr>
      </p:pic>
      <p:sp>
        <p:nvSpPr>
          <p:cNvPr id="8" name="Text 5"/>
          <p:cNvSpPr/>
          <p:nvPr/>
        </p:nvSpPr>
        <p:spPr>
          <a:xfrm>
            <a:off x="6764014" y="2216333"/>
            <a:ext cx="1554225" cy="327669"/>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1C2B39"/>
                </a:solidFill>
                <a:latin typeface="JetBrains Mono" pitchFamily="49" charset="0"/>
                <a:ea typeface="JetBrains Mono" pitchFamily="49" charset="-122"/>
                <a:cs typeface="JetBrains Mono" pitchFamily="49" charset="-120"/>
              </a:rPr>
              <a:t>P(message)</a:t>
            </a:r>
            <a:endParaRPr lang="en-US" sz="1700" dirty="0"/>
          </a:p>
        </p:txBody>
      </p:sp>
      <p:sp>
        <p:nvSpPr>
          <p:cNvPr id="9" name="Shape 6"/>
          <p:cNvSpPr/>
          <p:nvPr/>
        </p:nvSpPr>
        <p:spPr>
          <a:xfrm>
            <a:off x="812763" y="2929865"/>
            <a:ext cx="5226057" cy="1226466"/>
          </a:xfrm>
          <a:prstGeom prst="roundRect">
            <a:avLst>
              <a:gd name="adj" fmla="val 7248"/>
            </a:avLst>
          </a:prstGeom>
          <a:solidFill>
            <a:srgbClr val="F1F5F8"/>
          </a:solidFill>
          <a:ln/>
        </p:spPr>
      </p:sp>
      <p:sp>
        <p:nvSpPr>
          <p:cNvPr id="10" name="Text 7"/>
          <p:cNvSpPr/>
          <p:nvPr/>
        </p:nvSpPr>
        <p:spPr>
          <a:xfrm>
            <a:off x="977817" y="3069521"/>
            <a:ext cx="5042827" cy="247583"/>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2F5FA8"/>
                </a:solidFill>
                <a:latin typeface="JetBrains Mono" pitchFamily="49" charset="0"/>
                <a:ea typeface="JetBrains Mono" pitchFamily="49" charset="-122"/>
                <a:cs typeface="JetBrains Mono" pitchFamily="49" charset="-120"/>
              </a:rPr>
              <a:t>P(spam | message)</a:t>
            </a:r>
            <a:endParaRPr lang="en-US" sz="1250" dirty="0"/>
          </a:p>
        </p:txBody>
      </p:sp>
      <p:sp>
        <p:nvSpPr>
          <p:cNvPr id="11" name="Text 8"/>
          <p:cNvSpPr/>
          <p:nvPr/>
        </p:nvSpPr>
        <p:spPr>
          <a:xfrm>
            <a:off x="977817" y="3329763"/>
            <a:ext cx="5042827" cy="247583"/>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2B39"/>
                </a:solidFill>
                <a:latin typeface="IBM Plex Sans" pitchFamily="34" charset="0"/>
                <a:ea typeface="IBM Plex Sans" pitchFamily="34" charset="-122"/>
                <a:cs typeface="IBM Plex Sans" pitchFamily="34" charset="-120"/>
              </a:rPr>
              <a:t>Posterior</a:t>
            </a:r>
            <a:endParaRPr lang="en-US" sz="1250" dirty="0"/>
          </a:p>
        </p:txBody>
      </p:sp>
      <p:sp>
        <p:nvSpPr>
          <p:cNvPr id="12" name="Text 9"/>
          <p:cNvSpPr/>
          <p:nvPr/>
        </p:nvSpPr>
        <p:spPr>
          <a:xfrm>
            <a:off x="977817" y="3590007"/>
            <a:ext cx="5042827" cy="45207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What we want to know: the chance this exact message is spam, after reading its words.</a:t>
            </a:r>
            <a:endParaRPr lang="en-US" sz="1200" dirty="0"/>
          </a:p>
        </p:txBody>
      </p:sp>
      <p:sp>
        <p:nvSpPr>
          <p:cNvPr id="13" name="Shape 10"/>
          <p:cNvSpPr/>
          <p:nvPr/>
        </p:nvSpPr>
        <p:spPr>
          <a:xfrm>
            <a:off x="6153076" y="2929865"/>
            <a:ext cx="5226134" cy="1226466"/>
          </a:xfrm>
          <a:prstGeom prst="roundRect">
            <a:avLst>
              <a:gd name="adj" fmla="val 7248"/>
            </a:avLst>
          </a:prstGeom>
          <a:solidFill>
            <a:srgbClr val="F1F5F8"/>
          </a:solidFill>
          <a:ln/>
        </p:spPr>
      </p:sp>
      <p:sp>
        <p:nvSpPr>
          <p:cNvPr id="14" name="Text 11"/>
          <p:cNvSpPr/>
          <p:nvPr/>
        </p:nvSpPr>
        <p:spPr>
          <a:xfrm>
            <a:off x="6318131" y="3069521"/>
            <a:ext cx="5042906" cy="247583"/>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2F5FA8"/>
                </a:solidFill>
                <a:latin typeface="JetBrains Mono" pitchFamily="49" charset="0"/>
                <a:ea typeface="JetBrains Mono" pitchFamily="49" charset="-122"/>
                <a:cs typeface="JetBrains Mono" pitchFamily="49" charset="-120"/>
              </a:rPr>
              <a:t>P(message | spam)</a:t>
            </a:r>
            <a:endParaRPr lang="en-US" sz="1250" dirty="0"/>
          </a:p>
        </p:txBody>
      </p:sp>
      <p:sp>
        <p:nvSpPr>
          <p:cNvPr id="15" name="Text 12"/>
          <p:cNvSpPr/>
          <p:nvPr/>
        </p:nvSpPr>
        <p:spPr>
          <a:xfrm>
            <a:off x="6318131" y="3329763"/>
            <a:ext cx="5042906" cy="247583"/>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2B39"/>
                </a:solidFill>
                <a:latin typeface="IBM Plex Sans" pitchFamily="34" charset="0"/>
                <a:ea typeface="IBM Plex Sans" pitchFamily="34" charset="-122"/>
                <a:cs typeface="IBM Plex Sans" pitchFamily="34" charset="-120"/>
              </a:rPr>
              <a:t>Likelihood</a:t>
            </a:r>
            <a:endParaRPr lang="en-US" sz="1250" dirty="0"/>
          </a:p>
        </p:txBody>
      </p:sp>
      <p:sp>
        <p:nvSpPr>
          <p:cNvPr id="16" name="Text 13"/>
          <p:cNvSpPr/>
          <p:nvPr/>
        </p:nvSpPr>
        <p:spPr>
          <a:xfrm>
            <a:off x="6318131" y="3590007"/>
            <a:ext cx="5042906" cy="45207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How probable this exact wording is, assuming the message really is spam.</a:t>
            </a:r>
            <a:endParaRPr lang="en-US" sz="1200" dirty="0"/>
          </a:p>
        </p:txBody>
      </p:sp>
      <p:sp>
        <p:nvSpPr>
          <p:cNvPr id="17" name="Shape 14"/>
          <p:cNvSpPr/>
          <p:nvPr/>
        </p:nvSpPr>
        <p:spPr>
          <a:xfrm>
            <a:off x="812763" y="4270589"/>
            <a:ext cx="5226057" cy="1226466"/>
          </a:xfrm>
          <a:prstGeom prst="roundRect">
            <a:avLst>
              <a:gd name="adj" fmla="val 7248"/>
            </a:avLst>
          </a:prstGeom>
          <a:solidFill>
            <a:srgbClr val="F1F5F8"/>
          </a:solidFill>
          <a:ln/>
        </p:spPr>
      </p:sp>
      <p:sp>
        <p:nvSpPr>
          <p:cNvPr id="18" name="Text 15"/>
          <p:cNvSpPr/>
          <p:nvPr/>
        </p:nvSpPr>
        <p:spPr>
          <a:xfrm>
            <a:off x="977817" y="4410242"/>
            <a:ext cx="5042827" cy="247583"/>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2F5FA8"/>
                </a:solidFill>
                <a:latin typeface="JetBrains Mono" pitchFamily="49" charset="0"/>
                <a:ea typeface="JetBrains Mono" pitchFamily="49" charset="-122"/>
                <a:cs typeface="JetBrains Mono" pitchFamily="49" charset="-120"/>
              </a:rPr>
              <a:t>P(spam)</a:t>
            </a:r>
            <a:endParaRPr lang="en-US" sz="1250" dirty="0"/>
          </a:p>
        </p:txBody>
      </p:sp>
      <p:sp>
        <p:nvSpPr>
          <p:cNvPr id="19" name="Text 16"/>
          <p:cNvSpPr/>
          <p:nvPr/>
        </p:nvSpPr>
        <p:spPr>
          <a:xfrm>
            <a:off x="977817" y="4670487"/>
            <a:ext cx="5042827" cy="247583"/>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2B39"/>
                </a:solidFill>
                <a:latin typeface="IBM Plex Sans" pitchFamily="34" charset="0"/>
                <a:ea typeface="IBM Plex Sans" pitchFamily="34" charset="-122"/>
                <a:cs typeface="IBM Plex Sans" pitchFamily="34" charset="-120"/>
              </a:rPr>
              <a:t>Prior</a:t>
            </a:r>
            <a:endParaRPr lang="en-US" sz="1250" dirty="0"/>
          </a:p>
        </p:txBody>
      </p:sp>
      <p:sp>
        <p:nvSpPr>
          <p:cNvPr id="20" name="Text 17"/>
          <p:cNvSpPr/>
          <p:nvPr/>
        </p:nvSpPr>
        <p:spPr>
          <a:xfrm>
            <a:off x="977817" y="4930728"/>
            <a:ext cx="5042827" cy="45207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How common spam is overall, before reading a single word. About 51% here, straight from the training data.</a:t>
            </a:r>
            <a:endParaRPr lang="en-US" sz="1200" dirty="0"/>
          </a:p>
        </p:txBody>
      </p:sp>
      <p:sp>
        <p:nvSpPr>
          <p:cNvPr id="21" name="Shape 18"/>
          <p:cNvSpPr/>
          <p:nvPr/>
        </p:nvSpPr>
        <p:spPr>
          <a:xfrm>
            <a:off x="6153076" y="4270589"/>
            <a:ext cx="5226134" cy="1226466"/>
          </a:xfrm>
          <a:prstGeom prst="roundRect">
            <a:avLst>
              <a:gd name="adj" fmla="val 7248"/>
            </a:avLst>
          </a:prstGeom>
          <a:solidFill>
            <a:srgbClr val="F1F5F8"/>
          </a:solidFill>
          <a:ln/>
        </p:spPr>
      </p:sp>
      <p:sp>
        <p:nvSpPr>
          <p:cNvPr id="22" name="Text 19"/>
          <p:cNvSpPr/>
          <p:nvPr/>
        </p:nvSpPr>
        <p:spPr>
          <a:xfrm>
            <a:off x="6318131" y="4410242"/>
            <a:ext cx="5042906" cy="247583"/>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2F5FA8"/>
                </a:solidFill>
                <a:latin typeface="JetBrains Mono" pitchFamily="49" charset="0"/>
                <a:ea typeface="JetBrains Mono" pitchFamily="49" charset="-122"/>
                <a:cs typeface="JetBrains Mono" pitchFamily="49" charset="-120"/>
              </a:rPr>
              <a:t>P(message)</a:t>
            </a:r>
            <a:endParaRPr lang="en-US" sz="1250" dirty="0"/>
          </a:p>
        </p:txBody>
      </p:sp>
      <p:sp>
        <p:nvSpPr>
          <p:cNvPr id="23" name="Text 20"/>
          <p:cNvSpPr/>
          <p:nvPr/>
        </p:nvSpPr>
        <p:spPr>
          <a:xfrm>
            <a:off x="6318131" y="4670487"/>
            <a:ext cx="5042906" cy="247583"/>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2B39"/>
                </a:solidFill>
                <a:latin typeface="IBM Plex Sans" pitchFamily="34" charset="0"/>
                <a:ea typeface="IBM Plex Sans" pitchFamily="34" charset="-122"/>
                <a:cs typeface="IBM Plex Sans" pitchFamily="34" charset="-120"/>
              </a:rPr>
              <a:t>Evidence</a:t>
            </a:r>
            <a:endParaRPr lang="en-US" sz="1250" dirty="0"/>
          </a:p>
        </p:txBody>
      </p:sp>
      <p:sp>
        <p:nvSpPr>
          <p:cNvPr id="24" name="Text 21"/>
          <p:cNvSpPr/>
          <p:nvPr/>
        </p:nvSpPr>
        <p:spPr>
          <a:xfrm>
            <a:off x="6318131" y="4930728"/>
            <a:ext cx="5042906" cy="45207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How probable this wording is overall. The same for every class being compared, so it can be dropped when just choosing spam versus ham.</a:t>
            </a:r>
            <a:endParaRPr lang="en-US" sz="1200" dirty="0"/>
          </a:p>
        </p:txBody>
      </p:sp>
      <p:sp>
        <p:nvSpPr>
          <p:cNvPr id="25" name="Text 22"/>
          <p:cNvSpPr/>
          <p:nvPr/>
        </p:nvSpPr>
        <p:spPr>
          <a:xfrm>
            <a:off x="812763" y="6238273"/>
            <a:ext cx="625498"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Method</a:t>
            </a:r>
            <a:endParaRPr lang="en-US" sz="1200" dirty="0"/>
          </a:p>
        </p:txBody>
      </p:sp>
      <p:sp>
        <p:nvSpPr>
          <p:cNvPr id="26" name="Text 23"/>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06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660369"/>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THE METHOD · STEP 2 OF 3</a:t>
            </a:r>
            <a:endParaRPr lang="en-US" sz="1200" dirty="0"/>
          </a:p>
        </p:txBody>
      </p:sp>
      <p:sp>
        <p:nvSpPr>
          <p:cNvPr id="3" name="Text 1"/>
          <p:cNvSpPr/>
          <p:nvPr>
            <p:ph type="title"/>
          </p:nvPr>
        </p:nvSpPr>
        <p:spPr>
          <a:xfrm>
            <a:off x="812763" y="962561"/>
            <a:ext cx="10883441" cy="419730"/>
          </a:xfrm>
          <a:prstGeom prst="rect">
            <a:avLst/>
          </a:prstGeom>
          <a:noFill/>
          <a:ln/>
        </p:spPr>
        <p:txBody>
          <a:bodyPr wrap="square" lIns="0" tIns="0" rIns="0" bIns="0" rtlCol="0" anchor="t">
            <a:normAutofit/>
          </a:bodyPr>
          <a:lstStyle/>
          <a:p>
            <a:pPr algn="l" indent="0" marL="0">
              <a:lnSpc>
                <a:spcPts val="3105"/>
              </a:lnSpc>
              <a:buNone/>
            </a:pPr>
            <a:r>
              <a:rPr lang="en-US" sz="2700" b="1" i="0" dirty="0">
                <a:solidFill>
                  <a:srgbClr val="1C2B39"/>
                </a:solidFill>
                <a:latin typeface="Source Serif 4" pitchFamily="18" charset="0"/>
                <a:ea typeface="Source Serif 4" pitchFamily="18" charset="-122"/>
                <a:cs typeface="Source Serif 4" pitchFamily="18" charset="-120"/>
              </a:rPr>
              <a:t>From one word to a whole message</a:t>
            </a:r>
            <a:endParaRPr lang="en-US" sz="2700" dirty="0"/>
          </a:p>
        </p:txBody>
      </p:sp>
      <p:sp>
        <p:nvSpPr>
          <p:cNvPr id="4" name="Shape 2"/>
          <p:cNvSpPr/>
          <p:nvPr/>
        </p:nvSpPr>
        <p:spPr>
          <a:xfrm>
            <a:off x="815938" y="1563257"/>
            <a:ext cx="10560097" cy="1627642"/>
          </a:xfrm>
          <a:prstGeom prst="roundRect">
            <a:avLst>
              <a:gd name="adj" fmla="val 7608"/>
            </a:avLst>
          </a:prstGeom>
          <a:solidFill>
            <a:srgbClr val="FFFFFF"/>
          </a:solidFill>
          <a:ln w="6350">
            <a:solidFill>
              <a:srgbClr val="E2E6EA"/>
            </a:solidFill>
            <a:prstDash val="solid"/>
          </a:ln>
        </p:spPr>
      </p:sp>
      <p:sp>
        <p:nvSpPr>
          <p:cNvPr id="5" name="Text 3"/>
          <p:cNvSpPr/>
          <p:nvPr/>
        </p:nvSpPr>
        <p:spPr>
          <a:xfrm>
            <a:off x="947063" y="1793553"/>
            <a:ext cx="10297848" cy="309821"/>
          </a:xfrm>
          <a:prstGeom prst="rect">
            <a:avLst/>
          </a:prstGeom>
          <a:noFill/>
          <a:ln/>
        </p:spPr>
        <p:txBody>
          <a:bodyPr wrap="square" lIns="0" tIns="0" rIns="0" bIns="0" rtlCol="0" anchor="t">
            <a:normAutofit/>
          </a:bodyPr>
          <a:lstStyle/>
          <a:p>
            <a:pPr algn="ctr" indent="0" marL="0">
              <a:lnSpc>
                <a:spcPts val="2240"/>
              </a:lnSpc>
              <a:buNone/>
            </a:pPr>
            <a:r>
              <a:rPr lang="en-US" sz="1400" dirty="0">
                <a:solidFill>
                  <a:srgbClr val="1C2B39"/>
                </a:solidFill>
                <a:latin typeface="JetBrains Mono" pitchFamily="49" charset="0"/>
                <a:ea typeface="JetBrains Mono" pitchFamily="49" charset="-122"/>
                <a:cs typeface="JetBrains Mono" pitchFamily="49" charset="-120"/>
              </a:rPr>
              <a:t>P(message | spam) ≈ P(w1|spam) × P(w2|spam) × ... × P(wn|spam)</a:t>
            </a:r>
            <a:endParaRPr lang="en-US" sz="1400" dirty="0"/>
          </a:p>
        </p:txBody>
      </p:sp>
      <p:sp>
        <p:nvSpPr>
          <p:cNvPr id="6" name="Text 4"/>
          <p:cNvSpPr/>
          <p:nvPr/>
        </p:nvSpPr>
        <p:spPr>
          <a:xfrm>
            <a:off x="1097031" y="2217629"/>
            <a:ext cx="10297848" cy="76837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6525C"/>
                </a:solidFill>
                <a:latin typeface="IBM Plex Sans" pitchFamily="34" charset="0"/>
                <a:ea typeface="IBM Plex Sans" pitchFamily="34" charset="-122"/>
                <a:cs typeface="IBM Plex Sans" pitchFamily="34" charset="-120"/>
              </a:rPr>
              <a:t>Naive Bayes makes one simplifying, "naive" assumption: that every word's appearance is independent of the others, once you already know the class. That is rarely exactly true in real language, but it works remarkably well in practice, and it is what makes the math possible for a vocabulary of over a hundred thousand words.</a:t>
            </a:r>
            <a:endParaRPr lang="en-US" sz="1300" dirty="0"/>
          </a:p>
        </p:txBody>
      </p:sp>
      <p:sp>
        <p:nvSpPr>
          <p:cNvPr id="7" name="Shape 5"/>
          <p:cNvSpPr/>
          <p:nvPr/>
        </p:nvSpPr>
        <p:spPr>
          <a:xfrm>
            <a:off x="812763" y="3397262"/>
            <a:ext cx="10566447" cy="1624229"/>
          </a:xfrm>
          <a:prstGeom prst="roundRect">
            <a:avLst>
              <a:gd name="adj" fmla="val 7819"/>
            </a:avLst>
          </a:prstGeom>
          <a:solidFill>
            <a:srgbClr val="F1F5F8"/>
          </a:solidFill>
          <a:ln/>
        </p:spPr>
      </p:sp>
      <p:sp>
        <p:nvSpPr>
          <p:cNvPr id="8" name="Text 6"/>
          <p:cNvSpPr/>
          <p:nvPr/>
        </p:nvSpPr>
        <p:spPr>
          <a:xfrm>
            <a:off x="942035" y="3625853"/>
            <a:ext cx="10307904" cy="309821"/>
          </a:xfrm>
          <a:prstGeom prst="rect">
            <a:avLst/>
          </a:prstGeom>
          <a:noFill/>
          <a:ln/>
        </p:spPr>
        <p:txBody>
          <a:bodyPr wrap="square" lIns="0" tIns="0" rIns="0" bIns="0" rtlCol="0" anchor="t">
            <a:normAutofit/>
          </a:bodyPr>
          <a:lstStyle/>
          <a:p>
            <a:pPr algn="ctr" indent="0" marL="0">
              <a:lnSpc>
                <a:spcPts val="2240"/>
              </a:lnSpc>
              <a:buNone/>
            </a:pPr>
            <a:r>
              <a:rPr lang="en-US" sz="1400" dirty="0">
                <a:solidFill>
                  <a:srgbClr val="1C2B39"/>
                </a:solidFill>
                <a:latin typeface="JetBrains Mono" pitchFamily="49" charset="0"/>
                <a:ea typeface="JetBrains Mono" pitchFamily="49" charset="-122"/>
                <a:cs typeface="JetBrains Mono" pitchFamily="49" charset="-120"/>
              </a:rPr>
              <a:t>log P(spam|message) ∝ log P(spam) + Σ log P(wi|spam)</a:t>
            </a:r>
            <a:endParaRPr lang="en-US" sz="1400" dirty="0"/>
          </a:p>
        </p:txBody>
      </p:sp>
      <p:sp>
        <p:nvSpPr>
          <p:cNvPr id="9" name="Text 7"/>
          <p:cNvSpPr/>
          <p:nvPr/>
        </p:nvSpPr>
        <p:spPr>
          <a:xfrm>
            <a:off x="1092150" y="4049930"/>
            <a:ext cx="10307904" cy="76837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6525C"/>
                </a:solidFill>
                <a:latin typeface="IBM Plex Sans" pitchFamily="34" charset="0"/>
                <a:ea typeface="IBM Plex Sans" pitchFamily="34" charset="-122"/>
                <a:cs typeface="IBM Plex Sans" pitchFamily="34" charset="-120"/>
              </a:rPr>
              <a:t>Multiplying thousands of small probabilities together underflows to zero almost instantly on a real computer. Taking logarithms turns every multiplication into an addition, which is numerically stable and exactly as accurate. The same sum is computed for ham, and whichever total is larger wins.</a:t>
            </a:r>
            <a:endParaRPr lang="en-US" sz="1300" dirty="0"/>
          </a:p>
        </p:txBody>
      </p:sp>
      <p:sp>
        <p:nvSpPr>
          <p:cNvPr id="10" name="Text 8"/>
          <p:cNvSpPr/>
          <p:nvPr/>
        </p:nvSpPr>
        <p:spPr>
          <a:xfrm>
            <a:off x="812763" y="6238270"/>
            <a:ext cx="625498"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Method</a:t>
            </a:r>
            <a:endParaRPr lang="en-US" sz="1200" dirty="0"/>
          </a:p>
        </p:txBody>
      </p:sp>
      <p:sp>
        <p:nvSpPr>
          <p:cNvPr id="11" name="Text 9"/>
          <p:cNvSpPr/>
          <p:nvPr/>
        </p:nvSpPr>
        <p:spPr>
          <a:xfrm>
            <a:off x="10783916" y="6238270"/>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07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660369"/>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THE METHOD · STEP 3 OF 3</a:t>
            </a:r>
            <a:endParaRPr lang="en-US" sz="1200" dirty="0"/>
          </a:p>
        </p:txBody>
      </p:sp>
      <p:sp>
        <p:nvSpPr>
          <p:cNvPr id="3" name="Text 1"/>
          <p:cNvSpPr/>
          <p:nvPr>
            <p:ph type="title"/>
          </p:nvPr>
        </p:nvSpPr>
        <p:spPr>
          <a:xfrm>
            <a:off x="812763" y="962561"/>
            <a:ext cx="10883441" cy="390518"/>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1C2B39"/>
                </a:solidFill>
                <a:latin typeface="Source Serif 4" pitchFamily="18" charset="0"/>
                <a:ea typeface="Source Serif 4" pitchFamily="18" charset="-122"/>
                <a:cs typeface="Source Serif 4" pitchFamily="18" charset="-120"/>
              </a:rPr>
              <a:t>Handling zero counts, and turning odds into a percentage</a:t>
            </a:r>
            <a:endParaRPr lang="en-US" sz="2500" dirty="0"/>
          </a:p>
        </p:txBody>
      </p:sp>
      <p:sp>
        <p:nvSpPr>
          <p:cNvPr id="4" name="Shape 2"/>
          <p:cNvSpPr/>
          <p:nvPr/>
        </p:nvSpPr>
        <p:spPr>
          <a:xfrm>
            <a:off x="815938" y="1534046"/>
            <a:ext cx="10560097" cy="1617268"/>
          </a:xfrm>
          <a:prstGeom prst="roundRect">
            <a:avLst>
              <a:gd name="adj" fmla="val 7656"/>
            </a:avLst>
          </a:prstGeom>
          <a:solidFill>
            <a:srgbClr val="FFFFFF"/>
          </a:solidFill>
          <a:ln w="6350">
            <a:solidFill>
              <a:srgbClr val="E2E6EA"/>
            </a:solidFill>
            <a:prstDash val="solid"/>
          </a:ln>
        </p:spPr>
      </p:sp>
      <p:sp>
        <p:nvSpPr>
          <p:cNvPr id="5" name="Text 3"/>
          <p:cNvSpPr/>
          <p:nvPr/>
        </p:nvSpPr>
        <p:spPr>
          <a:xfrm>
            <a:off x="947063" y="1751605"/>
            <a:ext cx="10297848" cy="289609"/>
          </a:xfrm>
          <a:prstGeom prst="rect">
            <a:avLst/>
          </a:prstGeom>
          <a:noFill/>
          <a:ln/>
        </p:spPr>
        <p:txBody>
          <a:bodyPr wrap="square" lIns="0" tIns="0" rIns="0" bIns="0" rtlCol="0" anchor="t">
            <a:normAutofit/>
          </a:bodyPr>
          <a:lstStyle/>
          <a:p>
            <a:pPr algn="ctr" indent="0" marL="0">
              <a:lnSpc>
                <a:spcPts val="2080"/>
              </a:lnSpc>
              <a:buNone/>
            </a:pPr>
            <a:r>
              <a:rPr lang="en-US" sz="1300" dirty="0">
                <a:solidFill>
                  <a:srgbClr val="1C2B39"/>
                </a:solidFill>
                <a:latin typeface="JetBrains Mono" pitchFamily="49" charset="0"/>
                <a:ea typeface="JetBrains Mono" pitchFamily="49" charset="-122"/>
                <a:cs typeface="JetBrains Mono" pitchFamily="49" charset="-120"/>
              </a:rPr>
              <a:t>P(word | class) = ( count(word, class) + α ) / ( total words in class + α × vocabulary size )</a:t>
            </a:r>
            <a:endParaRPr lang="en-US" sz="1300" dirty="0"/>
          </a:p>
        </p:txBody>
      </p:sp>
      <p:sp>
        <p:nvSpPr>
          <p:cNvPr id="6" name="Text 4"/>
          <p:cNvSpPr/>
          <p:nvPr/>
        </p:nvSpPr>
        <p:spPr>
          <a:xfrm>
            <a:off x="947063" y="2130068"/>
            <a:ext cx="10297848" cy="23873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α = 1.0 in this project, known as Laplace smoothing</a:t>
            </a:r>
            <a:endParaRPr lang="en-US" sz="1200" dirty="0"/>
          </a:p>
        </p:txBody>
      </p:sp>
      <p:sp>
        <p:nvSpPr>
          <p:cNvPr id="7" name="Text 5"/>
          <p:cNvSpPr/>
          <p:nvPr/>
        </p:nvSpPr>
        <p:spPr>
          <a:xfrm>
            <a:off x="1097031" y="2457661"/>
            <a:ext cx="10297848" cy="50149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6525C"/>
                </a:solidFill>
                <a:latin typeface="IBM Plex Sans" pitchFamily="34" charset="0"/>
                <a:ea typeface="IBM Plex Sans" pitchFamily="34" charset="-122"/>
                <a:cs typeface="IBM Plex Sans" pitchFamily="34" charset="-120"/>
              </a:rPr>
              <a:t>If a word never once appeared in the spam training set, its raw probability is exactly zero, and multiplying by zero would wipe out the whole product. Adding a small constant, alpha, to every count means no word is ever treated as impossible. Just unlikely.</a:t>
            </a:r>
            <a:endParaRPr lang="en-US" sz="1250" dirty="0"/>
          </a:p>
        </p:txBody>
      </p:sp>
      <p:sp>
        <p:nvSpPr>
          <p:cNvPr id="8" name="Shape 6"/>
          <p:cNvSpPr/>
          <p:nvPr/>
        </p:nvSpPr>
        <p:spPr>
          <a:xfrm>
            <a:off x="812763" y="3357680"/>
            <a:ext cx="10566447" cy="1306476"/>
          </a:xfrm>
          <a:prstGeom prst="roundRect">
            <a:avLst>
              <a:gd name="adj" fmla="val 9721"/>
            </a:avLst>
          </a:prstGeom>
          <a:solidFill>
            <a:srgbClr val="F1F5F8"/>
          </a:solidFill>
          <a:ln/>
        </p:spPr>
      </p:sp>
      <p:sp>
        <p:nvSpPr>
          <p:cNvPr id="9" name="Text 7"/>
          <p:cNvSpPr/>
          <p:nvPr/>
        </p:nvSpPr>
        <p:spPr>
          <a:xfrm>
            <a:off x="942035" y="3573531"/>
            <a:ext cx="10307904" cy="309821"/>
          </a:xfrm>
          <a:prstGeom prst="rect">
            <a:avLst/>
          </a:prstGeom>
          <a:noFill/>
          <a:ln/>
        </p:spPr>
        <p:txBody>
          <a:bodyPr wrap="square" lIns="0" tIns="0" rIns="0" bIns="0" rtlCol="0" anchor="t">
            <a:normAutofit/>
          </a:bodyPr>
          <a:lstStyle/>
          <a:p>
            <a:pPr algn="ctr" indent="0" marL="0">
              <a:lnSpc>
                <a:spcPts val="2240"/>
              </a:lnSpc>
              <a:buNone/>
            </a:pPr>
            <a:r>
              <a:rPr lang="en-US" sz="1400" dirty="0">
                <a:solidFill>
                  <a:srgbClr val="1C2B39"/>
                </a:solidFill>
                <a:latin typeface="JetBrains Mono" pitchFamily="49" charset="0"/>
                <a:ea typeface="JetBrains Mono" pitchFamily="49" charset="-122"/>
                <a:cs typeface="JetBrains Mono" pitchFamily="49" charset="-120"/>
              </a:rPr>
              <a:t>P(spam | message) = 1 / ( 1 + e^-Δ ), where Δ = log P(spam|message) - log P(ham|message)</a:t>
            </a:r>
            <a:endParaRPr lang="en-US" sz="1400" dirty="0"/>
          </a:p>
        </p:txBody>
      </p:sp>
      <p:sp>
        <p:nvSpPr>
          <p:cNvPr id="10" name="Text 8"/>
          <p:cNvSpPr/>
          <p:nvPr/>
        </p:nvSpPr>
        <p:spPr>
          <a:xfrm>
            <a:off x="1092150" y="3972210"/>
            <a:ext cx="10307904" cy="50149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6525C"/>
                </a:solidFill>
                <a:latin typeface="IBM Plex Sans" pitchFamily="34" charset="0"/>
                <a:ea typeface="IBM Plex Sans" pitchFamily="34" charset="-122"/>
                <a:cs typeface="IBM Plex Sans" pitchFamily="34" charset="-120"/>
              </a:rPr>
              <a:t>The sums from the previous step are log-odds: useful for comparison, but not a percentage anyone can read. The sigmoid function folds that difference back into a clean 0 to 100% probability, which is the number the app actually shows you.</a:t>
            </a:r>
            <a:endParaRPr lang="en-US" sz="1250" dirty="0"/>
          </a:p>
        </p:txBody>
      </p:sp>
      <p:sp>
        <p:nvSpPr>
          <p:cNvPr id="11" name="Text 9"/>
          <p:cNvSpPr/>
          <p:nvPr/>
        </p:nvSpPr>
        <p:spPr>
          <a:xfrm>
            <a:off x="812763" y="6238273"/>
            <a:ext cx="625498"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Method</a:t>
            </a:r>
            <a:endParaRPr lang="en-US" sz="1200" dirty="0"/>
          </a:p>
        </p:txBody>
      </p:sp>
      <p:sp>
        <p:nvSpPr>
          <p:cNvPr id="12" name="Text 10"/>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08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1528738"/>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SYSTEM</a:t>
            </a:r>
            <a:endParaRPr lang="en-US" sz="1200" dirty="0"/>
          </a:p>
        </p:txBody>
      </p:sp>
      <p:sp>
        <p:nvSpPr>
          <p:cNvPr id="3" name="Text 1"/>
          <p:cNvSpPr/>
          <p:nvPr>
            <p:ph type="title"/>
          </p:nvPr>
        </p:nvSpPr>
        <p:spPr>
          <a:xfrm>
            <a:off x="812763" y="1869064"/>
            <a:ext cx="10883441" cy="46351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C2B39"/>
                </a:solidFill>
                <a:latin typeface="Source Serif 4" pitchFamily="18" charset="0"/>
                <a:ea typeface="Source Serif 4" pitchFamily="18" charset="-122"/>
                <a:cs typeface="Source Serif 4" pitchFamily="18" charset="-120"/>
              </a:rPr>
              <a:t>How the pieces fit together</a:t>
            </a:r>
            <a:endParaRPr lang="en-US" sz="3000" dirty="0"/>
          </a:p>
        </p:txBody>
      </p:sp>
      <p:sp>
        <p:nvSpPr>
          <p:cNvPr id="4" name="Shape 2"/>
          <p:cNvSpPr/>
          <p:nvPr/>
        </p:nvSpPr>
        <p:spPr>
          <a:xfrm>
            <a:off x="815938" y="2768829"/>
            <a:ext cx="1741212" cy="993815"/>
          </a:xfrm>
          <a:prstGeom prst="roundRect">
            <a:avLst>
              <a:gd name="adj" fmla="val 8626"/>
            </a:avLst>
          </a:prstGeom>
          <a:solidFill>
            <a:srgbClr val="FFFFFF"/>
          </a:solidFill>
          <a:ln w="6350">
            <a:solidFill>
              <a:srgbClr val="E2E6EA"/>
            </a:solidFill>
            <a:prstDash val="solid"/>
          </a:ln>
        </p:spPr>
      </p:sp>
      <p:sp>
        <p:nvSpPr>
          <p:cNvPr id="5" name="Text 3"/>
          <p:cNvSpPr/>
          <p:nvPr/>
        </p:nvSpPr>
        <p:spPr>
          <a:xfrm>
            <a:off x="849526" y="2935591"/>
            <a:ext cx="1674035" cy="208226"/>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C2B39"/>
                </a:solidFill>
                <a:latin typeface="IBM Plex Sans" pitchFamily="34" charset="0"/>
                <a:ea typeface="IBM Plex Sans" pitchFamily="34" charset="-122"/>
                <a:cs typeface="IBM Plex Sans" pitchFamily="34" charset="-120"/>
              </a:rPr>
              <a:t>Enron-Spam corpus</a:t>
            </a:r>
            <a:endParaRPr lang="en-US" sz="1200" dirty="0"/>
          </a:p>
        </p:txBody>
      </p:sp>
      <p:sp>
        <p:nvSpPr>
          <p:cNvPr id="6" name="Text 4"/>
          <p:cNvSpPr/>
          <p:nvPr/>
        </p:nvSpPr>
        <p:spPr>
          <a:xfrm>
            <a:off x="906501" y="3169214"/>
            <a:ext cx="1560085" cy="45207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33,716 real emails, downloaded once</a:t>
            </a:r>
            <a:endParaRPr lang="en-US" sz="1200" dirty="0"/>
          </a:p>
        </p:txBody>
      </p:sp>
      <p:pic>
        <p:nvPicPr>
          <p:cNvPr id="7" name="Image 0" descr="arrow-right">    </p:cNvPr>
          <p:cNvPicPr>
            <a:picLocks noChangeAspect="1"/>
          </p:cNvPicPr>
          <p:nvPr/>
        </p:nvPicPr>
        <p:blipFill>
          <a:blip r:embed="rId1"/>
          <a:srcRect l="0" r="0" t="0" b="0"/>
          <a:stretch/>
        </p:blipFill>
        <p:spPr>
          <a:xfrm>
            <a:off x="2649182" y="3202236"/>
            <a:ext cx="279387" cy="126994"/>
          </a:xfrm>
          <a:prstGeom prst="rect">
            <a:avLst/>
          </a:prstGeom>
        </p:spPr>
      </p:pic>
      <p:sp>
        <p:nvSpPr>
          <p:cNvPr id="8" name="Shape 5"/>
          <p:cNvSpPr/>
          <p:nvPr/>
        </p:nvSpPr>
        <p:spPr>
          <a:xfrm>
            <a:off x="3020602" y="2665933"/>
            <a:ext cx="1741288" cy="1199599"/>
          </a:xfrm>
          <a:prstGeom prst="roundRect">
            <a:avLst>
              <a:gd name="adj" fmla="val 7146"/>
            </a:avLst>
          </a:prstGeom>
          <a:solidFill>
            <a:srgbClr val="FFFFFF"/>
          </a:solidFill>
          <a:ln w="6350">
            <a:solidFill>
              <a:srgbClr val="E2E6EA"/>
            </a:solidFill>
            <a:prstDash val="solid"/>
          </a:ln>
        </p:spPr>
      </p:sp>
      <p:sp>
        <p:nvSpPr>
          <p:cNvPr id="9" name="Text 6"/>
          <p:cNvSpPr/>
          <p:nvPr/>
        </p:nvSpPr>
        <p:spPr>
          <a:xfrm>
            <a:off x="3023853" y="2832695"/>
            <a:ext cx="1734862" cy="200675"/>
          </a:xfrm>
          <a:prstGeom prst="rect">
            <a:avLst/>
          </a:prstGeom>
          <a:noFill/>
          <a:ln/>
        </p:spPr>
        <p:txBody>
          <a:bodyPr wrap="square" lIns="0" tIns="0" rIns="0" bIns="0" rtlCol="0" anchor="t">
            <a:normAutofit/>
          </a:bodyPr>
          <a:lstStyle/>
          <a:p>
            <a:pPr algn="ctr" indent="0" marL="0">
              <a:lnSpc>
                <a:spcPts val="1380"/>
              </a:lnSpc>
              <a:buNone/>
            </a:pPr>
            <a:r>
              <a:rPr lang="en-US" sz="1150" b="1" dirty="0">
                <a:solidFill>
                  <a:srgbClr val="1C2B39"/>
                </a:solidFill>
                <a:latin typeface="JetBrains Mono" pitchFamily="49" charset="0"/>
                <a:ea typeface="JetBrains Mono" pitchFamily="49" charset="-122"/>
                <a:cs typeface="JetBrains Mono" pitchFamily="49" charset="-120"/>
              </a:rPr>
              <a:t>prepare_dataset.py</a:t>
            </a:r>
            <a:endParaRPr lang="en-US" sz="1150" dirty="0"/>
          </a:p>
        </p:txBody>
      </p:sp>
      <p:sp>
        <p:nvSpPr>
          <p:cNvPr id="10" name="Text 7"/>
          <p:cNvSpPr/>
          <p:nvPr/>
        </p:nvSpPr>
        <p:spPr>
          <a:xfrm>
            <a:off x="3111165" y="3058771"/>
            <a:ext cx="1560162" cy="66540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Splits data into training and held-out demo sets</a:t>
            </a:r>
            <a:endParaRPr lang="en-US" sz="1200" dirty="0"/>
          </a:p>
        </p:txBody>
      </p:sp>
      <p:pic>
        <p:nvPicPr>
          <p:cNvPr id="11" name="Image 1" descr="arrow-right">    </p:cNvPr>
          <p:cNvPicPr>
            <a:picLocks noChangeAspect="1"/>
          </p:cNvPicPr>
          <p:nvPr/>
        </p:nvPicPr>
        <p:blipFill>
          <a:blip r:embed="rId2"/>
          <a:srcRect l="0" r="0" t="0" b="0"/>
          <a:stretch/>
        </p:blipFill>
        <p:spPr>
          <a:xfrm>
            <a:off x="4853922" y="3202236"/>
            <a:ext cx="279387" cy="126994"/>
          </a:xfrm>
          <a:prstGeom prst="rect">
            <a:avLst/>
          </a:prstGeom>
        </p:spPr>
      </p:pic>
      <p:sp>
        <p:nvSpPr>
          <p:cNvPr id="12" name="Shape 8"/>
          <p:cNvSpPr/>
          <p:nvPr/>
        </p:nvSpPr>
        <p:spPr>
          <a:xfrm>
            <a:off x="5225342" y="2665933"/>
            <a:ext cx="1741212" cy="1199599"/>
          </a:xfrm>
          <a:prstGeom prst="roundRect">
            <a:avLst>
              <a:gd name="adj" fmla="val 7146"/>
            </a:avLst>
          </a:prstGeom>
          <a:solidFill>
            <a:srgbClr val="FFFFFF"/>
          </a:solidFill>
          <a:ln w="6350">
            <a:solidFill>
              <a:srgbClr val="E2E6EA"/>
            </a:solidFill>
            <a:prstDash val="solid"/>
          </a:ln>
        </p:spPr>
      </p:sp>
      <p:sp>
        <p:nvSpPr>
          <p:cNvPr id="13" name="Text 9"/>
          <p:cNvSpPr/>
          <p:nvPr/>
        </p:nvSpPr>
        <p:spPr>
          <a:xfrm>
            <a:off x="5412605" y="2832695"/>
            <a:ext cx="1366686" cy="200675"/>
          </a:xfrm>
          <a:prstGeom prst="rect">
            <a:avLst/>
          </a:prstGeom>
          <a:noFill/>
          <a:ln/>
        </p:spPr>
        <p:txBody>
          <a:bodyPr wrap="square" lIns="0" tIns="0" rIns="0" bIns="0" rtlCol="0" anchor="t">
            <a:normAutofit/>
          </a:bodyPr>
          <a:lstStyle/>
          <a:p>
            <a:pPr algn="ctr" indent="0" marL="0">
              <a:lnSpc>
                <a:spcPts val="1380"/>
              </a:lnSpc>
              <a:buNone/>
            </a:pPr>
            <a:r>
              <a:rPr lang="en-US" sz="1150" b="1" dirty="0">
                <a:solidFill>
                  <a:srgbClr val="1C2B39"/>
                </a:solidFill>
                <a:latin typeface="JetBrains Mono" pitchFamily="49" charset="0"/>
                <a:ea typeface="JetBrains Mono" pitchFamily="49" charset="-122"/>
                <a:cs typeface="JetBrains Mono" pitchFamily="49" charset="-120"/>
              </a:rPr>
              <a:t>classifier.py</a:t>
            </a:r>
            <a:endParaRPr lang="en-US" sz="1150" dirty="0"/>
          </a:p>
        </p:txBody>
      </p:sp>
      <p:sp>
        <p:nvSpPr>
          <p:cNvPr id="14" name="Text 10"/>
          <p:cNvSpPr/>
          <p:nvPr/>
        </p:nvSpPr>
        <p:spPr>
          <a:xfrm>
            <a:off x="5315905" y="3058771"/>
            <a:ext cx="1560085" cy="66540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Naive Bayes model, trained fresh at startup</a:t>
            </a:r>
            <a:endParaRPr lang="en-US" sz="1200" dirty="0"/>
          </a:p>
        </p:txBody>
      </p:sp>
      <p:pic>
        <p:nvPicPr>
          <p:cNvPr id="15" name="Image 2" descr="arrow-right">    </p:cNvPr>
          <p:cNvPicPr>
            <a:picLocks noChangeAspect="1"/>
          </p:cNvPicPr>
          <p:nvPr/>
        </p:nvPicPr>
        <p:blipFill>
          <a:blip r:embed="rId3"/>
          <a:srcRect l="0" r="0" t="0" b="0"/>
          <a:stretch/>
        </p:blipFill>
        <p:spPr>
          <a:xfrm>
            <a:off x="7058587" y="3202236"/>
            <a:ext cx="279387" cy="126994"/>
          </a:xfrm>
          <a:prstGeom prst="rect">
            <a:avLst/>
          </a:prstGeom>
        </p:spPr>
      </p:pic>
      <p:sp>
        <p:nvSpPr>
          <p:cNvPr id="16" name="Shape 11"/>
          <p:cNvSpPr/>
          <p:nvPr/>
        </p:nvSpPr>
        <p:spPr>
          <a:xfrm>
            <a:off x="7430007" y="2772563"/>
            <a:ext cx="1741288" cy="986264"/>
          </a:xfrm>
          <a:prstGeom prst="roundRect">
            <a:avLst>
              <a:gd name="adj" fmla="val 8692"/>
            </a:avLst>
          </a:prstGeom>
          <a:solidFill>
            <a:srgbClr val="FFFFFF"/>
          </a:solidFill>
          <a:ln w="6350">
            <a:solidFill>
              <a:srgbClr val="E2E6EA"/>
            </a:solidFill>
            <a:prstDash val="solid"/>
          </a:ln>
        </p:spPr>
      </p:sp>
      <p:sp>
        <p:nvSpPr>
          <p:cNvPr id="17" name="Text 12"/>
          <p:cNvSpPr/>
          <p:nvPr/>
        </p:nvSpPr>
        <p:spPr>
          <a:xfrm>
            <a:off x="7985210" y="2939324"/>
            <a:ext cx="630806" cy="200675"/>
          </a:xfrm>
          <a:prstGeom prst="rect">
            <a:avLst/>
          </a:prstGeom>
          <a:noFill/>
          <a:ln/>
        </p:spPr>
        <p:txBody>
          <a:bodyPr wrap="square" lIns="0" tIns="0" rIns="0" bIns="0" rtlCol="0" anchor="t">
            <a:normAutofit/>
          </a:bodyPr>
          <a:lstStyle/>
          <a:p>
            <a:pPr algn="ctr" indent="0" marL="0">
              <a:lnSpc>
                <a:spcPts val="1380"/>
              </a:lnSpc>
              <a:buNone/>
            </a:pPr>
            <a:r>
              <a:rPr lang="en-US" sz="1150" b="1" dirty="0">
                <a:solidFill>
                  <a:srgbClr val="1C2B39"/>
                </a:solidFill>
                <a:latin typeface="JetBrains Mono" pitchFamily="49" charset="0"/>
                <a:ea typeface="JetBrains Mono" pitchFamily="49" charset="-122"/>
                <a:cs typeface="JetBrains Mono" pitchFamily="49" charset="-120"/>
              </a:rPr>
              <a:t>app.py</a:t>
            </a:r>
            <a:endParaRPr lang="en-US" sz="1150" dirty="0"/>
          </a:p>
        </p:txBody>
      </p:sp>
      <p:sp>
        <p:nvSpPr>
          <p:cNvPr id="18" name="Text 13"/>
          <p:cNvSpPr/>
          <p:nvPr/>
        </p:nvSpPr>
        <p:spPr>
          <a:xfrm>
            <a:off x="7520570" y="3165401"/>
            <a:ext cx="1560162" cy="45207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Flask routes and the JSON API</a:t>
            </a:r>
            <a:endParaRPr lang="en-US" sz="1200" dirty="0"/>
          </a:p>
        </p:txBody>
      </p:sp>
      <p:pic>
        <p:nvPicPr>
          <p:cNvPr id="19" name="Image 3" descr="arrow-right">    </p:cNvPr>
          <p:cNvPicPr>
            <a:picLocks noChangeAspect="1"/>
          </p:cNvPicPr>
          <p:nvPr/>
        </p:nvPicPr>
        <p:blipFill>
          <a:blip r:embed="rId4"/>
          <a:srcRect l="0" r="0" t="0" b="0"/>
          <a:stretch/>
        </p:blipFill>
        <p:spPr>
          <a:xfrm>
            <a:off x="9263328" y="3202236"/>
            <a:ext cx="279387" cy="126994"/>
          </a:xfrm>
          <a:prstGeom prst="rect">
            <a:avLst/>
          </a:prstGeom>
        </p:spPr>
      </p:pic>
      <p:sp>
        <p:nvSpPr>
          <p:cNvPr id="20" name="Shape 14"/>
          <p:cNvSpPr/>
          <p:nvPr/>
        </p:nvSpPr>
        <p:spPr>
          <a:xfrm>
            <a:off x="9634748" y="2768829"/>
            <a:ext cx="1741288" cy="993815"/>
          </a:xfrm>
          <a:prstGeom prst="roundRect">
            <a:avLst>
              <a:gd name="adj" fmla="val 8626"/>
            </a:avLst>
          </a:prstGeom>
          <a:solidFill>
            <a:srgbClr val="FFFFFF"/>
          </a:solidFill>
          <a:ln w="6350">
            <a:solidFill>
              <a:srgbClr val="E2E6EA"/>
            </a:solidFill>
            <a:prstDash val="solid"/>
          </a:ln>
        </p:spPr>
      </p:sp>
      <p:sp>
        <p:nvSpPr>
          <p:cNvPr id="21" name="Text 15"/>
          <p:cNvSpPr/>
          <p:nvPr/>
        </p:nvSpPr>
        <p:spPr>
          <a:xfrm>
            <a:off x="10191414" y="2935591"/>
            <a:ext cx="627877" cy="208226"/>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C2B39"/>
                </a:solidFill>
                <a:latin typeface="IBM Plex Sans" pitchFamily="34" charset="0"/>
                <a:ea typeface="IBM Plex Sans" pitchFamily="34" charset="-122"/>
                <a:cs typeface="IBM Plex Sans" pitchFamily="34" charset="-120"/>
              </a:rPr>
              <a:t>Web UI</a:t>
            </a:r>
            <a:endParaRPr lang="en-US" sz="1200" dirty="0"/>
          </a:p>
        </p:txBody>
      </p:sp>
      <p:sp>
        <p:nvSpPr>
          <p:cNvPr id="22" name="Text 16"/>
          <p:cNvSpPr/>
          <p:nvPr/>
        </p:nvSpPr>
        <p:spPr>
          <a:xfrm>
            <a:off x="9725310" y="3169214"/>
            <a:ext cx="1560162" cy="45207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index.html and app.js render the mailbox</a:t>
            </a:r>
            <a:endParaRPr lang="en-US" sz="1200" dirty="0"/>
          </a:p>
        </p:txBody>
      </p:sp>
      <p:sp>
        <p:nvSpPr>
          <p:cNvPr id="23" name="Text 17"/>
          <p:cNvSpPr/>
          <p:nvPr/>
        </p:nvSpPr>
        <p:spPr>
          <a:xfrm>
            <a:off x="812763" y="4224294"/>
            <a:ext cx="10566447" cy="901697"/>
          </a:xfrm>
          <a:prstGeom prst="roundRect">
            <a:avLst>
              <a:gd name="adj" fmla="val 11268"/>
            </a:avLst>
          </a:prstGeom>
          <a:solidFill>
            <a:srgbClr val="F1F5F8"/>
          </a:solidFill>
          <a:ln/>
        </p:spPr>
        <p:txBody>
          <a:bodyPr wrap="square" lIns="224231" tIns="173442" rIns="0" bIns="148024" rtlCol="0" anchor="t">
            <a:normAutofit/>
          </a:bodyPr>
          <a:lstStyle/>
          <a:p>
            <a:pPr algn="l" indent="0" marL="0">
              <a:lnSpc>
                <a:spcPts val="1950"/>
              </a:lnSpc>
              <a:buNone/>
            </a:pPr>
            <a:r>
              <a:rPr lang="en-US" sz="1300" dirty="0">
                <a:solidFill>
                  <a:srgbClr val="334049"/>
                </a:solidFill>
                <a:latin typeface="IBM Plex Sans" pitchFamily="34" charset="0"/>
                <a:ea typeface="IBM Plex Sans" pitchFamily="34" charset="-122"/>
                <a:cs typeface="IBM Plex Sans" pitchFamily="34" charset="-120"/>
              </a:rPr>
              <a:t>evaluate.py retrains the same model on a fresh 80/20 split every time the server starts, and feeds those honest numbers straight into the About tab, so the accuracy you see is always measured, never hardcoded.</a:t>
            </a:r>
            <a:endParaRPr lang="en-US" sz="1300" dirty="0"/>
          </a:p>
        </p:txBody>
      </p:sp>
      <p:sp>
        <p:nvSpPr>
          <p:cNvPr id="24" name="Text 18"/>
          <p:cNvSpPr/>
          <p:nvPr/>
        </p:nvSpPr>
        <p:spPr>
          <a:xfrm>
            <a:off x="812763" y="6238273"/>
            <a:ext cx="608107"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System</a:t>
            </a:r>
            <a:endParaRPr lang="en-US" sz="1200" dirty="0"/>
          </a:p>
        </p:txBody>
      </p:sp>
      <p:sp>
        <p:nvSpPr>
          <p:cNvPr id="25" name="Text 19"/>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09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711163"/>
            <a:ext cx="10883441" cy="226836"/>
          </a:xfrm>
          <a:prstGeom prst="rect">
            <a:avLst/>
          </a:prstGeom>
          <a:noFill/>
          <a:ln/>
        </p:spPr>
        <p:txBody>
          <a:bodyPr wrap="square" lIns="0" tIns="0" rIns="0" bIns="0" rtlCol="0" anchor="t">
            <a:normAutofit/>
          </a:bodyPr>
          <a:lstStyle/>
          <a:p>
            <a:pPr algn="l" indent="0" marL="0">
              <a:lnSpc>
                <a:spcPts val="1622"/>
              </a:lnSpc>
              <a:buNone/>
            </a:pPr>
            <a:r>
              <a:rPr lang="en-US" sz="1159" b="1" spc="50" kern="0" dirty="0">
                <a:solidFill>
                  <a:srgbClr val="2F5FA8"/>
                </a:solidFill>
                <a:latin typeface="IBM Plex Sans" pitchFamily="34" charset="0"/>
                <a:ea typeface="IBM Plex Sans" pitchFamily="34" charset="-122"/>
                <a:cs typeface="IBM Plex Sans" pitchFamily="34" charset="-120"/>
              </a:rPr>
              <a:t>SYSTEM</a:t>
            </a:r>
            <a:endParaRPr lang="en-US" sz="1159" dirty="0"/>
          </a:p>
        </p:txBody>
      </p:sp>
      <p:sp>
        <p:nvSpPr>
          <p:cNvPr id="3" name="Text 1"/>
          <p:cNvSpPr/>
          <p:nvPr>
            <p:ph type="title"/>
          </p:nvPr>
        </p:nvSpPr>
        <p:spPr>
          <a:xfrm>
            <a:off x="812763" y="1001458"/>
            <a:ext cx="10883441" cy="425222"/>
          </a:xfrm>
          <a:prstGeom prst="rect">
            <a:avLst/>
          </a:prstGeom>
          <a:noFill/>
          <a:ln/>
        </p:spPr>
        <p:txBody>
          <a:bodyPr wrap="square" lIns="0" tIns="0" rIns="0" bIns="0" rtlCol="0" anchor="t">
            <a:normAutofit/>
          </a:bodyPr>
          <a:lstStyle/>
          <a:p>
            <a:pPr algn="l" indent="0" marL="0">
              <a:lnSpc>
                <a:spcPts val="3168"/>
              </a:lnSpc>
              <a:buNone/>
            </a:pPr>
            <a:r>
              <a:rPr lang="en-US" sz="2755" b="1" i="0" dirty="0">
                <a:solidFill>
                  <a:srgbClr val="1C2B39"/>
                </a:solidFill>
                <a:latin typeface="Source Serif 4" pitchFamily="18" charset="0"/>
                <a:ea typeface="Source Serif 4" pitchFamily="18" charset="-122"/>
                <a:cs typeface="Source Serif 4" pitchFamily="18" charset="-120"/>
              </a:rPr>
              <a:t>What it's built with</a:t>
            </a:r>
            <a:endParaRPr lang="en-US" sz="2755" dirty="0"/>
          </a:p>
        </p:txBody>
      </p:sp>
      <p:sp>
        <p:nvSpPr>
          <p:cNvPr id="4" name="Shape 2"/>
          <p:cNvSpPr/>
          <p:nvPr/>
        </p:nvSpPr>
        <p:spPr>
          <a:xfrm>
            <a:off x="815938" y="1594910"/>
            <a:ext cx="5175240" cy="2166585"/>
          </a:xfrm>
          <a:prstGeom prst="roundRect">
            <a:avLst>
              <a:gd name="adj" fmla="val 4543"/>
            </a:avLst>
          </a:prstGeom>
          <a:solidFill>
            <a:srgbClr val="FFFFFF"/>
          </a:solidFill>
          <a:ln w="6350">
            <a:solidFill>
              <a:srgbClr val="E2E6EA"/>
            </a:solidFill>
            <a:prstDash val="solid"/>
          </a:ln>
        </p:spPr>
      </p:sp>
      <p:sp>
        <p:nvSpPr>
          <p:cNvPr id="5" name="Text 3"/>
          <p:cNvSpPr/>
          <p:nvPr/>
        </p:nvSpPr>
        <p:spPr>
          <a:xfrm>
            <a:off x="1058895" y="1837866"/>
            <a:ext cx="4830006" cy="238811"/>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1C2B39"/>
                </a:solidFill>
                <a:latin typeface="IBM Plex Sans" pitchFamily="34" charset="0"/>
                <a:ea typeface="IBM Plex Sans" pitchFamily="34" charset="-122"/>
                <a:cs typeface="IBM Plex Sans" pitchFamily="34" charset="-120"/>
              </a:rPr>
              <a:t>Backend</a:t>
            </a:r>
            <a:endParaRPr lang="en-US" sz="1434" dirty="0"/>
          </a:p>
        </p:txBody>
      </p:sp>
      <p:sp>
        <p:nvSpPr>
          <p:cNvPr id="6" name="Text 4"/>
          <p:cNvSpPr/>
          <p:nvPr/>
        </p:nvSpPr>
        <p:spPr>
          <a:xfrm>
            <a:off x="1164479" y="2152873"/>
            <a:ext cx="4716801" cy="1391064"/>
          </a:xfrm>
          <a:prstGeom prst="rect">
            <a:avLst/>
          </a:prstGeom>
          <a:noFill/>
          <a:ln/>
        </p:spPr>
        <p:txBody>
          <a:bodyPr wrap="square" lIns="0" tIns="0" rIns="0" bIns="0" rtlCol="0" anchor="t">
            <a:normAutofit/>
          </a:bodyPr>
          <a:lstStyle/>
          <a:p>
            <a:pPr algn="l" marL="148415" indent="-148415">
              <a:lnSpc>
                <a:spcPts val="1830"/>
              </a:lnSpc>
              <a:buSzPct val="100000"/>
              <a:buChar char="•"/>
            </a:pPr>
            <a:r>
              <a:rPr lang="en-US" sz="1144" dirty="0">
                <a:solidFill>
                  <a:srgbClr val="46525C"/>
                </a:solidFill>
                <a:latin typeface="IBM Plex Sans" pitchFamily="34" charset="0"/>
                <a:ea typeface="IBM Plex Sans" pitchFamily="34" charset="-122"/>
                <a:cs typeface="IBM Plex Sans" pitchFamily="34" charset="-120"/>
              </a:rPr>
              <a:t>Python 3 and Flask, for routes and the JSON API</a:t>
            </a:r>
            <a:endParaRPr lang="en-US" sz="1144" dirty="0"/>
          </a:p>
          <a:p>
            <a:pPr algn="l" marL="148415" indent="-148415">
              <a:lnSpc>
                <a:spcPts val="1830"/>
              </a:lnSpc>
              <a:buSzPct val="100000"/>
              <a:buChar char="•"/>
            </a:pPr>
            <a:r>
              <a:rPr lang="en-US" sz="1144" dirty="0">
                <a:solidFill>
                  <a:srgbClr val="46525C"/>
                </a:solidFill>
                <a:latin typeface="IBM Plex Sans" pitchFamily="34" charset="0"/>
                <a:ea typeface="IBM Plex Sans" pitchFamily="34" charset="-122"/>
                <a:cs typeface="IBM Plex Sans" pitchFamily="34" charset="-120"/>
              </a:rPr>
              <a:t>pandas, for loading and cleaning the CSV data</a:t>
            </a:r>
            <a:endParaRPr lang="en-US" sz="1144" dirty="0"/>
          </a:p>
          <a:p>
            <a:pPr algn="l" marL="148415" indent="-148415">
              <a:lnSpc>
                <a:spcPts val="1830"/>
              </a:lnSpc>
              <a:buSzPct val="100000"/>
              <a:buChar char="•"/>
            </a:pPr>
            <a:r>
              <a:rPr lang="en-US" sz="1144" dirty="0">
                <a:solidFill>
                  <a:srgbClr val="46525C"/>
                </a:solidFill>
                <a:latin typeface="IBM Plex Sans" pitchFamily="34" charset="0"/>
                <a:ea typeface="IBM Plex Sans" pitchFamily="34" charset="-122"/>
                <a:cs typeface="IBM Plex Sans" pitchFamily="34" charset="-120"/>
              </a:rPr>
              <a:t>A Multinomial Naive Bayes classifier, written by hand, no scikit-learn</a:t>
            </a:r>
            <a:endParaRPr lang="en-US" sz="1144" dirty="0"/>
          </a:p>
          <a:p>
            <a:pPr algn="l" marL="148415" indent="-148415">
              <a:lnSpc>
                <a:spcPts val="1830"/>
              </a:lnSpc>
              <a:buSzPct val="100000"/>
              <a:buChar char="•"/>
            </a:pPr>
            <a:r>
              <a:rPr lang="en-US" sz="1144" dirty="0">
                <a:solidFill>
                  <a:srgbClr val="46525C"/>
                </a:solidFill>
                <a:latin typeface="IBM Plex Sans" pitchFamily="34" charset="0"/>
                <a:ea typeface="IBM Plex Sans" pitchFamily="34" charset="-122"/>
                <a:cs typeface="IBM Plex Sans" pitchFamily="34" charset="-120"/>
              </a:rPr>
              <a:t>In-memory state for stars, sent mail, and feedback, for one running session</a:t>
            </a:r>
            <a:endParaRPr lang="en-US" sz="1144" dirty="0"/>
          </a:p>
        </p:txBody>
      </p:sp>
      <p:sp>
        <p:nvSpPr>
          <p:cNvPr id="7" name="Shape 5"/>
          <p:cNvSpPr/>
          <p:nvPr/>
        </p:nvSpPr>
        <p:spPr>
          <a:xfrm>
            <a:off x="6200718" y="1594910"/>
            <a:ext cx="5175317" cy="2166585"/>
          </a:xfrm>
          <a:prstGeom prst="roundRect">
            <a:avLst>
              <a:gd name="adj" fmla="val 4543"/>
            </a:avLst>
          </a:prstGeom>
          <a:solidFill>
            <a:srgbClr val="FFFFFF"/>
          </a:solidFill>
          <a:ln w="6350">
            <a:solidFill>
              <a:srgbClr val="E2E6EA"/>
            </a:solidFill>
            <a:prstDash val="solid"/>
          </a:ln>
        </p:spPr>
      </p:sp>
      <p:sp>
        <p:nvSpPr>
          <p:cNvPr id="8" name="Text 6"/>
          <p:cNvSpPr/>
          <p:nvPr/>
        </p:nvSpPr>
        <p:spPr>
          <a:xfrm>
            <a:off x="6443676" y="1837866"/>
            <a:ext cx="4830084" cy="253989"/>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9"/>
                </a:solidFill>
                <a:latin typeface="IBM Plex Sans" pitchFamily="34" charset="0"/>
                <a:ea typeface="IBM Plex Sans" pitchFamily="34" charset="-122"/>
                <a:cs typeface="IBM Plex Sans" pitchFamily="34" charset="-120"/>
              </a:rPr>
              <a:t>Frontend</a:t>
            </a:r>
            <a:endParaRPr lang="en-US" sz="1500" dirty="0"/>
          </a:p>
        </p:txBody>
      </p:sp>
      <p:sp>
        <p:nvSpPr>
          <p:cNvPr id="9" name="Text 7"/>
          <p:cNvSpPr/>
          <p:nvPr/>
        </p:nvSpPr>
        <p:spPr>
          <a:xfrm>
            <a:off x="6542482" y="2168054"/>
            <a:ext cx="4723658" cy="1000471"/>
          </a:xfrm>
          <a:prstGeom prst="rect">
            <a:avLst/>
          </a:prstGeom>
          <a:noFill/>
          <a:ln/>
        </p:spPr>
        <p:txBody>
          <a:bodyPr wrap="square" lIns="0" tIns="0" rIns="0" bIns="0" rtlCol="0" anchor="t">
            <a:normAutofit/>
          </a:bodyPr>
          <a:lstStyle/>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Plain HTML, CSS, and JavaScript, no framework</a:t>
            </a:r>
            <a:endParaRPr lang="en-US" sz="1200" dirty="0"/>
          </a:p>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One single page app shell that fetches everything as JSON</a:t>
            </a:r>
            <a:endParaRPr lang="en-US" sz="1200" dirty="0"/>
          </a:p>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Styled to look and feel like a real Gmail inbox</a:t>
            </a:r>
            <a:endParaRPr lang="en-US" sz="1200" dirty="0"/>
          </a:p>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Search, starring, and the folder nav all genuinely work</a:t>
            </a:r>
            <a:endParaRPr lang="en-US" sz="1200" dirty="0"/>
          </a:p>
        </p:txBody>
      </p:sp>
      <p:sp>
        <p:nvSpPr>
          <p:cNvPr id="10" name="Shape 8"/>
          <p:cNvSpPr/>
          <p:nvPr/>
        </p:nvSpPr>
        <p:spPr>
          <a:xfrm>
            <a:off x="812763" y="3955120"/>
            <a:ext cx="10566447" cy="1886912"/>
          </a:xfrm>
          <a:prstGeom prst="roundRect">
            <a:avLst>
              <a:gd name="adj" fmla="val 5384"/>
            </a:avLst>
          </a:prstGeom>
          <a:solidFill>
            <a:srgbClr val="F1F5F8"/>
          </a:solidFill>
          <a:ln/>
        </p:spPr>
      </p:sp>
      <p:sp>
        <p:nvSpPr>
          <p:cNvPr id="11" name="Text 9"/>
          <p:cNvSpPr/>
          <p:nvPr/>
        </p:nvSpPr>
        <p:spPr>
          <a:xfrm>
            <a:off x="1066751" y="4158314"/>
            <a:ext cx="10360225" cy="213260"/>
          </a:xfrm>
          <a:prstGeom prst="rect">
            <a:avLst/>
          </a:prstGeom>
          <a:noFill/>
          <a:ln/>
        </p:spPr>
        <p:txBody>
          <a:bodyPr wrap="square" lIns="0" tIns="0" rIns="0" bIns="0" rtlCol="0" anchor="t">
            <a:normAutofit/>
          </a:bodyPr>
          <a:lstStyle/>
          <a:p>
            <a:pPr algn="l" indent="0" marL="0">
              <a:lnSpc>
                <a:spcPts val="1521"/>
              </a:lnSpc>
              <a:buNone/>
            </a:pPr>
            <a:r>
              <a:rPr lang="en-US" sz="1268" b="1" dirty="0">
                <a:solidFill>
                  <a:srgbClr val="1C2B39"/>
                </a:solidFill>
                <a:latin typeface="IBM Plex Sans" pitchFamily="34" charset="0"/>
                <a:ea typeface="IBM Plex Sans" pitchFamily="34" charset="-122"/>
                <a:cs typeface="IBM Plex Sans" pitchFamily="34" charset="-120"/>
              </a:rPr>
              <a:t>Project layout</a:t>
            </a:r>
            <a:endParaRPr lang="en-US" sz="1268" dirty="0"/>
          </a:p>
        </p:txBody>
      </p:sp>
      <p:sp>
        <p:nvSpPr>
          <p:cNvPr id="12" name="Text 10"/>
          <p:cNvSpPr/>
          <p:nvPr/>
        </p:nvSpPr>
        <p:spPr>
          <a:xfrm>
            <a:off x="1066751" y="4435029"/>
            <a:ext cx="10360225" cy="22554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34049"/>
                </a:solidFill>
                <a:latin typeface="JetBrains Mono" pitchFamily="49" charset="0"/>
                <a:ea typeface="JetBrains Mono" pitchFamily="49" charset="-122"/>
                <a:cs typeface="JetBrains Mono" pitchFamily="49" charset="-120"/>
              </a:rPr>
              <a:t>app.py </a:t>
            </a:r>
            <a:r>
              <a:rPr lang="en-US" sz="1159" dirty="0">
                <a:solidFill>
                  <a:srgbClr val="8A95A1"/>
                </a:solidFill>
                <a:latin typeface="JetBrains Mono" pitchFamily="49" charset="0"/>
                <a:ea typeface="JetBrains Mono" pitchFamily="49" charset="-122"/>
                <a:cs typeface="JetBrains Mono" pitchFamily="49" charset="-120"/>
              </a:rPr>
              <a:t>Flask routes and the API</a:t>
            </a:r>
            <a:endParaRPr lang="en-US" sz="1159" dirty="0"/>
          </a:p>
        </p:txBody>
      </p:sp>
      <p:sp>
        <p:nvSpPr>
          <p:cNvPr id="13" name="Text 11"/>
          <p:cNvSpPr/>
          <p:nvPr/>
        </p:nvSpPr>
        <p:spPr>
          <a:xfrm>
            <a:off x="1066751" y="4685965"/>
            <a:ext cx="10360225" cy="22546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34049"/>
                </a:solidFill>
                <a:latin typeface="JetBrains Mono" pitchFamily="49" charset="0"/>
                <a:ea typeface="JetBrains Mono" pitchFamily="49" charset="-122"/>
                <a:cs typeface="JetBrains Mono" pitchFamily="49" charset="-120"/>
              </a:rPr>
              <a:t>classifier.py </a:t>
            </a:r>
            <a:r>
              <a:rPr lang="en-US" sz="1159" dirty="0">
                <a:solidFill>
                  <a:srgbClr val="8A95A1"/>
                </a:solidFill>
                <a:latin typeface="JetBrains Mono" pitchFamily="49" charset="0"/>
                <a:ea typeface="JetBrains Mono" pitchFamily="49" charset="-122"/>
                <a:cs typeface="JetBrains Mono" pitchFamily="49" charset="-120"/>
              </a:rPr>
              <a:t>Naive Bayes, written from scratch</a:t>
            </a:r>
            <a:endParaRPr lang="en-US" sz="1159" dirty="0"/>
          </a:p>
        </p:txBody>
      </p:sp>
      <p:sp>
        <p:nvSpPr>
          <p:cNvPr id="14" name="Text 12"/>
          <p:cNvSpPr/>
          <p:nvPr/>
        </p:nvSpPr>
        <p:spPr>
          <a:xfrm>
            <a:off x="1066751" y="4936827"/>
            <a:ext cx="10360225" cy="22554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34049"/>
                </a:solidFill>
                <a:latin typeface="JetBrains Mono" pitchFamily="49" charset="0"/>
                <a:ea typeface="JetBrains Mono" pitchFamily="49" charset="-122"/>
                <a:cs typeface="JetBrains Mono" pitchFamily="49" charset="-120"/>
              </a:rPr>
              <a:t>dataset.py </a:t>
            </a:r>
            <a:r>
              <a:rPr lang="en-US" sz="1159" dirty="0">
                <a:solidFill>
                  <a:srgbClr val="8A95A1"/>
                </a:solidFill>
                <a:latin typeface="JetBrains Mono" pitchFamily="49" charset="0"/>
                <a:ea typeface="JetBrains Mono" pitchFamily="49" charset="-122"/>
                <a:cs typeface="JetBrains Mono" pitchFamily="49" charset="-120"/>
              </a:rPr>
              <a:t>Loads training data, builds inbox and presets</a:t>
            </a:r>
            <a:endParaRPr lang="en-US" sz="1159" dirty="0"/>
          </a:p>
        </p:txBody>
      </p:sp>
      <p:sp>
        <p:nvSpPr>
          <p:cNvPr id="15" name="Text 13"/>
          <p:cNvSpPr/>
          <p:nvPr/>
        </p:nvSpPr>
        <p:spPr>
          <a:xfrm>
            <a:off x="1066751" y="5187764"/>
            <a:ext cx="10360225" cy="22554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34049"/>
                </a:solidFill>
                <a:latin typeface="JetBrains Mono" pitchFamily="49" charset="0"/>
                <a:ea typeface="JetBrains Mono" pitchFamily="49" charset="-122"/>
                <a:cs typeface="JetBrains Mono" pitchFamily="49" charset="-120"/>
              </a:rPr>
              <a:t>evaluate.py </a:t>
            </a:r>
            <a:r>
              <a:rPr lang="en-US" sz="1159" dirty="0">
                <a:solidFill>
                  <a:srgbClr val="8A95A1"/>
                </a:solidFill>
                <a:latin typeface="JetBrains Mono" pitchFamily="49" charset="0"/>
                <a:ea typeface="JetBrains Mono" pitchFamily="49" charset="-122"/>
                <a:cs typeface="JetBrains Mono" pitchFamily="49" charset="-120"/>
              </a:rPr>
              <a:t>Honest held-out accuracy, every startup</a:t>
            </a:r>
            <a:endParaRPr lang="en-US" sz="1159" dirty="0"/>
          </a:p>
        </p:txBody>
      </p:sp>
      <p:sp>
        <p:nvSpPr>
          <p:cNvPr id="16" name="Text 14"/>
          <p:cNvSpPr/>
          <p:nvPr/>
        </p:nvSpPr>
        <p:spPr>
          <a:xfrm>
            <a:off x="1066751" y="5438701"/>
            <a:ext cx="10360225" cy="22554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34049"/>
                </a:solidFill>
                <a:latin typeface="JetBrains Mono" pitchFamily="49" charset="0"/>
                <a:ea typeface="JetBrains Mono" pitchFamily="49" charset="-122"/>
                <a:cs typeface="JetBrains Mono" pitchFamily="49" charset="-120"/>
              </a:rPr>
              <a:t>templates / static </a:t>
            </a:r>
            <a:r>
              <a:rPr lang="en-US" sz="1159" dirty="0">
                <a:solidFill>
                  <a:srgbClr val="8A95A1"/>
                </a:solidFill>
                <a:latin typeface="JetBrains Mono" pitchFamily="49" charset="0"/>
                <a:ea typeface="JetBrains Mono" pitchFamily="49" charset="-122"/>
                <a:cs typeface="JetBrains Mono" pitchFamily="49" charset="-120"/>
              </a:rPr>
              <a:t>The Gmail style single page app</a:t>
            </a:r>
            <a:endParaRPr lang="en-US" sz="1159" dirty="0"/>
          </a:p>
        </p:txBody>
      </p:sp>
      <p:sp>
        <p:nvSpPr>
          <p:cNvPr id="17" name="Text 15"/>
          <p:cNvSpPr/>
          <p:nvPr/>
        </p:nvSpPr>
        <p:spPr>
          <a:xfrm>
            <a:off x="812763" y="6238273"/>
            <a:ext cx="608107"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System</a:t>
            </a:r>
            <a:endParaRPr lang="en-US" sz="1200" dirty="0"/>
          </a:p>
        </p:txBody>
      </p:sp>
      <p:sp>
        <p:nvSpPr>
          <p:cNvPr id="18" name="Text 16"/>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711169"/>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SYSTEM</a:t>
            </a:r>
            <a:endParaRPr lang="en-US" sz="1200" dirty="0"/>
          </a:p>
        </p:txBody>
      </p:sp>
      <p:sp>
        <p:nvSpPr>
          <p:cNvPr id="3" name="Text 1"/>
          <p:cNvSpPr/>
          <p:nvPr>
            <p:ph type="title"/>
          </p:nvPr>
        </p:nvSpPr>
        <p:spPr>
          <a:xfrm>
            <a:off x="812763" y="1013358"/>
            <a:ext cx="10883441" cy="448943"/>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C2B39"/>
                </a:solidFill>
                <a:latin typeface="Source Serif 4" pitchFamily="18" charset="0"/>
                <a:ea typeface="Source Serif 4" pitchFamily="18" charset="-122"/>
                <a:cs typeface="Source Serif 4" pitchFamily="18" charset="-120"/>
              </a:rPr>
              <a:t>A real inbox, not a script</a:t>
            </a:r>
            <a:endParaRPr lang="en-US" sz="2900" dirty="0"/>
          </a:p>
        </p:txBody>
      </p:sp>
      <p:sp>
        <p:nvSpPr>
          <p:cNvPr id="4" name="Text 2"/>
          <p:cNvSpPr/>
          <p:nvPr/>
        </p:nvSpPr>
        <p:spPr>
          <a:xfrm>
            <a:off x="904838" y="2725378"/>
            <a:ext cx="3714753" cy="2056696"/>
          </a:xfrm>
          <a:prstGeom prst="rect">
            <a:avLst/>
          </a:prstGeom>
          <a:noFill/>
          <a:ln/>
        </p:spPr>
        <p:txBody>
          <a:bodyPr wrap="square" lIns="0" tIns="0" rIns="0" bIns="0" rtlCol="0" anchor="t">
            <a:normAutofit/>
          </a:bodyPr>
          <a:lstStyle/>
          <a:p>
            <a:pPr algn="l" marL="161925" indent="-161925">
              <a:lnSpc>
                <a:spcPts val="2000"/>
              </a:lnSpc>
              <a:buSzPct val="100000"/>
              <a:buChar char="•"/>
            </a:pPr>
            <a:r>
              <a:rPr lang="en-US" sz="1250" dirty="0">
                <a:solidFill>
                  <a:srgbClr val="46525C"/>
                </a:solidFill>
                <a:latin typeface="IBM Plex Sans" pitchFamily="34" charset="0"/>
                <a:ea typeface="IBM Plex Sans" pitchFamily="34" charset="-122"/>
                <a:cs typeface="IBM Plex Sans" pitchFamily="34" charset="-120"/>
              </a:rPr>
              <a:t>Inbox, Starred, Sent, and Spam are real, separate folders</a:t>
            </a:r>
            <a:endParaRPr lang="en-US" sz="1250" dirty="0"/>
          </a:p>
          <a:p>
            <a:pPr algn="l" marL="161925" indent="-161925">
              <a:lnSpc>
                <a:spcPts val="2000"/>
              </a:lnSpc>
              <a:buSzPct val="100000"/>
              <a:buChar char="•"/>
            </a:pPr>
            <a:r>
              <a:rPr lang="en-US" sz="1250" dirty="0">
                <a:solidFill>
                  <a:srgbClr val="46525C"/>
                </a:solidFill>
                <a:latin typeface="IBM Plex Sans" pitchFamily="34" charset="0"/>
                <a:ea typeface="IBM Plex Sans" pitchFamily="34" charset="-122"/>
                <a:cs typeface="IBM Plex Sans" pitchFamily="34" charset="-120"/>
              </a:rPr>
              <a:t>30 real emails, randomly sampled every server start, from a held-out pool the model never trained on</a:t>
            </a:r>
            <a:endParaRPr lang="en-US" sz="1250" dirty="0"/>
          </a:p>
          <a:p>
            <a:pPr algn="l" marL="161925" indent="-161925">
              <a:lnSpc>
                <a:spcPts val="2000"/>
              </a:lnSpc>
              <a:buSzPct val="100000"/>
              <a:buChar char="•"/>
            </a:pPr>
            <a:r>
              <a:rPr lang="en-US" sz="1250" dirty="0">
                <a:solidFill>
                  <a:srgbClr val="46525C"/>
                </a:solidFill>
                <a:latin typeface="IBM Plex Sans" pitchFamily="34" charset="0"/>
                <a:ea typeface="IBM Plex Sans" pitchFamily="34" charset="-122"/>
                <a:cs typeface="IBM Plex Sans" pitchFamily="34" charset="-120"/>
              </a:rPr>
              <a:t>Spam is flagged in the list, and highlighted word by word inside the message</a:t>
            </a:r>
            <a:endParaRPr lang="en-US" sz="1250" dirty="0"/>
          </a:p>
          <a:p>
            <a:pPr algn="l" marL="161925" indent="-161925">
              <a:lnSpc>
                <a:spcPts val="2000"/>
              </a:lnSpc>
              <a:buSzPct val="100000"/>
              <a:buChar char="•"/>
            </a:pPr>
            <a:r>
              <a:rPr lang="en-US" sz="1250" dirty="0">
                <a:solidFill>
                  <a:srgbClr val="46525C"/>
                </a:solidFill>
                <a:latin typeface="IBM Plex Sans" pitchFamily="34" charset="0"/>
                <a:ea typeface="IBM Plex Sans" pitchFamily="34" charset="-122"/>
                <a:cs typeface="IBM Plex Sans" pitchFamily="34" charset="-120"/>
              </a:rPr>
              <a:t>Search and starring both genuinely work</a:t>
            </a:r>
            <a:endParaRPr lang="en-US" sz="1250" dirty="0"/>
          </a:p>
        </p:txBody>
      </p:sp>
      <p:pic>
        <p:nvPicPr>
          <p:cNvPr id="5" name="Image 0" descr="Inbox view of the Gmail style mailbox, showing real emails with spam flagged in red">    </p:cNvPr>
          <p:cNvPicPr>
            <a:picLocks noChangeAspect="1"/>
          </p:cNvPicPr>
          <p:nvPr/>
        </p:nvPicPr>
        <p:blipFill>
          <a:blip r:embed="rId1"/>
          <a:srcRect l="-63" r="-63" t="0" b="0"/>
          <a:stretch/>
        </p:blipFill>
        <p:spPr>
          <a:xfrm>
            <a:off x="5045692" y="1842387"/>
            <a:ext cx="6083248" cy="3797277"/>
          </a:xfrm>
          <a:prstGeom prst="roundRect">
            <a:avLst>
              <a:gd name="adj" fmla="val 2174"/>
            </a:avLst>
          </a:prstGeom>
        </p:spPr>
      </p:pic>
      <p:sp>
        <p:nvSpPr>
          <p:cNvPr id="6" name="Shape 3"/>
          <p:cNvSpPr/>
          <p:nvPr/>
        </p:nvSpPr>
        <p:spPr>
          <a:xfrm>
            <a:off x="5042517" y="1839212"/>
            <a:ext cx="6089598" cy="3803627"/>
          </a:xfrm>
          <a:prstGeom prst="roundRect">
            <a:avLst>
              <a:gd name="adj" fmla="val 2254"/>
            </a:avLst>
          </a:prstGeom>
          <a:noFill/>
          <a:ln w="6350">
            <a:solidFill>
              <a:srgbClr val="E2E6EA"/>
            </a:solidFill>
            <a:prstDash val="solid"/>
          </a:ln>
        </p:spPr>
      </p:sp>
      <p:sp>
        <p:nvSpPr>
          <p:cNvPr id="7" name="Text 4"/>
          <p:cNvSpPr/>
          <p:nvPr/>
        </p:nvSpPr>
        <p:spPr>
          <a:xfrm>
            <a:off x="812763" y="6238273"/>
            <a:ext cx="608107"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System</a:t>
            </a:r>
            <a:endParaRPr lang="en-US" sz="1200" dirty="0"/>
          </a:p>
        </p:txBody>
      </p:sp>
      <p:sp>
        <p:nvSpPr>
          <p:cNvPr id="8" name="Text 5"/>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609575"/>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SYSTEM</a:t>
            </a:r>
            <a:endParaRPr lang="en-US" sz="1200" dirty="0"/>
          </a:p>
        </p:txBody>
      </p:sp>
      <p:sp>
        <p:nvSpPr>
          <p:cNvPr id="3" name="Text 1"/>
          <p:cNvSpPr/>
          <p:nvPr>
            <p:ph type="title"/>
          </p:nvPr>
        </p:nvSpPr>
        <p:spPr>
          <a:xfrm>
            <a:off x="812763" y="911765"/>
            <a:ext cx="10883441" cy="434298"/>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C2B39"/>
                </a:solidFill>
                <a:latin typeface="Source Serif 4" pitchFamily="18" charset="0"/>
                <a:ea typeface="Source Serif 4" pitchFamily="18" charset="-122"/>
                <a:cs typeface="Source Serif 4" pitchFamily="18" charset="-120"/>
              </a:rPr>
              <a:t>Explainable, not a black box</a:t>
            </a:r>
            <a:endParaRPr lang="en-US" sz="2800" dirty="0"/>
          </a:p>
        </p:txBody>
      </p:sp>
      <p:sp>
        <p:nvSpPr>
          <p:cNvPr id="4" name="Text 2"/>
          <p:cNvSpPr/>
          <p:nvPr/>
        </p:nvSpPr>
        <p:spPr>
          <a:xfrm>
            <a:off x="812763" y="1409520"/>
            <a:ext cx="10883441" cy="25658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5C"/>
                </a:solidFill>
                <a:latin typeface="IBM Plex Sans" pitchFamily="34" charset="0"/>
                <a:ea typeface="IBM Plex Sans" pitchFamily="34" charset="-122"/>
                <a:cs typeface="IBM Plex Sans" pitchFamily="34" charset="-120"/>
              </a:rPr>
              <a:t>The Spam Detector tab checks any text you write or paste, and shows the full Naive Bayes trail behind the verdict.</a:t>
            </a:r>
            <a:endParaRPr lang="en-US" sz="1300" dirty="0"/>
          </a:p>
        </p:txBody>
      </p:sp>
      <p:pic>
        <p:nvPicPr>
          <p:cNvPr id="5" name="Image 0" descr="Spam Detector tab showing the step by step Naive Bayes explanation and the words table">    </p:cNvPr>
          <p:cNvPicPr>
            <a:picLocks noChangeAspect="1"/>
          </p:cNvPicPr>
          <p:nvPr/>
        </p:nvPicPr>
        <p:blipFill>
          <a:blip r:embed="rId1"/>
          <a:srcRect l="-67" r="-67" t="0" b="0"/>
          <a:stretch/>
        </p:blipFill>
        <p:spPr>
          <a:xfrm>
            <a:off x="3257553" y="1799450"/>
            <a:ext cx="5676867" cy="3543289"/>
          </a:xfrm>
          <a:prstGeom prst="roundRect">
            <a:avLst>
              <a:gd name="adj" fmla="val 2330"/>
            </a:avLst>
          </a:prstGeom>
        </p:spPr>
      </p:pic>
      <p:sp>
        <p:nvSpPr>
          <p:cNvPr id="6" name="Shape 3"/>
          <p:cNvSpPr/>
          <p:nvPr/>
        </p:nvSpPr>
        <p:spPr>
          <a:xfrm>
            <a:off x="3254378" y="1796275"/>
            <a:ext cx="5683217" cy="3549639"/>
          </a:xfrm>
          <a:prstGeom prst="roundRect">
            <a:avLst>
              <a:gd name="adj" fmla="val 2415"/>
            </a:avLst>
          </a:prstGeom>
          <a:noFill/>
          <a:ln w="6350">
            <a:solidFill>
              <a:srgbClr val="E2E6EA"/>
            </a:solidFill>
            <a:prstDash val="solid"/>
          </a:ln>
        </p:spPr>
      </p:sp>
      <p:sp>
        <p:nvSpPr>
          <p:cNvPr id="7" name="Text 4"/>
          <p:cNvSpPr/>
          <p:nvPr/>
        </p:nvSpPr>
        <p:spPr>
          <a:xfrm>
            <a:off x="812763" y="6238273"/>
            <a:ext cx="608107"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System</a:t>
            </a:r>
            <a:endParaRPr lang="en-US" sz="1200" dirty="0"/>
          </a:p>
        </p:txBody>
      </p:sp>
      <p:sp>
        <p:nvSpPr>
          <p:cNvPr id="8" name="Text 5"/>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660369"/>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OUTCOMES</a:t>
            </a:r>
            <a:endParaRPr lang="en-US" sz="1200" dirty="0"/>
          </a:p>
        </p:txBody>
      </p:sp>
      <p:sp>
        <p:nvSpPr>
          <p:cNvPr id="3" name="Text 1"/>
          <p:cNvSpPr/>
          <p:nvPr>
            <p:ph type="title"/>
          </p:nvPr>
        </p:nvSpPr>
        <p:spPr>
          <a:xfrm>
            <a:off x="812763" y="962558"/>
            <a:ext cx="10883441" cy="434298"/>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C2B39"/>
                </a:solidFill>
                <a:latin typeface="Source Serif 4" pitchFamily="18" charset="0"/>
                <a:ea typeface="Source Serif 4" pitchFamily="18" charset="-122"/>
                <a:cs typeface="Source Serif 4" pitchFamily="18" charset="-120"/>
              </a:rPr>
              <a:t>How well it actually performs</a:t>
            </a:r>
            <a:endParaRPr lang="en-US" sz="2800" dirty="0"/>
          </a:p>
        </p:txBody>
      </p:sp>
      <p:sp>
        <p:nvSpPr>
          <p:cNvPr id="4" name="Text 2"/>
          <p:cNvSpPr/>
          <p:nvPr/>
        </p:nvSpPr>
        <p:spPr>
          <a:xfrm>
            <a:off x="812763" y="1460314"/>
            <a:ext cx="10883441" cy="469765"/>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6525C"/>
                </a:solidFill>
                <a:latin typeface="IBM Plex Sans" pitchFamily="34" charset="0"/>
                <a:ea typeface="IBM Plex Sans" pitchFamily="34" charset="-122"/>
                <a:cs typeface="IBM Plex Sans" pitchFamily="34" charset="-120"/>
              </a:rPr>
              <a:t>Trained on 26,970 real emails, tested on 6,702 it never saw, with duplicate emails grouped so none leak across the split. Measured fresh with every server start, never hardcoded.</a:t>
            </a:r>
            <a:endParaRPr lang="en-US" sz="1250" dirty="0"/>
          </a:p>
        </p:txBody>
      </p:sp>
      <p:sp>
        <p:nvSpPr>
          <p:cNvPr id="5" name="Shape 3"/>
          <p:cNvSpPr/>
          <p:nvPr/>
        </p:nvSpPr>
        <p:spPr>
          <a:xfrm>
            <a:off x="815938" y="2085646"/>
            <a:ext cx="2540016" cy="986264"/>
          </a:xfrm>
          <a:prstGeom prst="roundRect">
            <a:avLst>
              <a:gd name="adj" fmla="val 9980"/>
            </a:avLst>
          </a:prstGeom>
          <a:solidFill>
            <a:srgbClr val="FFFFFF"/>
          </a:solidFill>
          <a:ln w="6350">
            <a:solidFill>
              <a:srgbClr val="E2E6EA"/>
            </a:solidFill>
            <a:prstDash val="solid"/>
          </a:ln>
        </p:spPr>
      </p:sp>
      <p:sp>
        <p:nvSpPr>
          <p:cNvPr id="6" name="Text 4"/>
          <p:cNvSpPr/>
          <p:nvPr/>
        </p:nvSpPr>
        <p:spPr>
          <a:xfrm>
            <a:off x="1412175" y="2239745"/>
            <a:ext cx="1347465" cy="452070"/>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2F5FA8"/>
                </a:solidFill>
                <a:latin typeface="IBM Plex Sans" pitchFamily="34" charset="0"/>
                <a:ea typeface="IBM Plex Sans" pitchFamily="34" charset="-122"/>
                <a:cs typeface="IBM Plex Sans" pitchFamily="34" charset="-120"/>
              </a:rPr>
              <a:t>98.64%</a:t>
            </a:r>
            <a:endParaRPr lang="en-US" sz="2400" dirty="0"/>
          </a:p>
        </p:txBody>
      </p:sp>
      <p:sp>
        <p:nvSpPr>
          <p:cNvPr id="7" name="Text 5"/>
          <p:cNvSpPr/>
          <p:nvPr/>
        </p:nvSpPr>
        <p:spPr>
          <a:xfrm>
            <a:off x="1710272" y="2704474"/>
            <a:ext cx="751348"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Accuracy</a:t>
            </a:r>
            <a:endParaRPr lang="en-US" sz="1200" dirty="0"/>
          </a:p>
        </p:txBody>
      </p:sp>
      <p:sp>
        <p:nvSpPr>
          <p:cNvPr id="8" name="Shape 6"/>
          <p:cNvSpPr/>
          <p:nvPr/>
        </p:nvSpPr>
        <p:spPr>
          <a:xfrm>
            <a:off x="3489298" y="2085646"/>
            <a:ext cx="2540016" cy="986264"/>
          </a:xfrm>
          <a:prstGeom prst="roundRect">
            <a:avLst>
              <a:gd name="adj" fmla="val 9980"/>
            </a:avLst>
          </a:prstGeom>
          <a:solidFill>
            <a:srgbClr val="FFFFFF"/>
          </a:solidFill>
          <a:ln w="6350">
            <a:solidFill>
              <a:srgbClr val="E2E6EA"/>
            </a:solidFill>
            <a:prstDash val="solid"/>
          </a:ln>
        </p:spPr>
      </p:sp>
      <p:sp>
        <p:nvSpPr>
          <p:cNvPr id="9" name="Text 7"/>
          <p:cNvSpPr/>
          <p:nvPr/>
        </p:nvSpPr>
        <p:spPr>
          <a:xfrm>
            <a:off x="4085535" y="2239745"/>
            <a:ext cx="1347465" cy="452070"/>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2F5FA8"/>
                </a:solidFill>
                <a:latin typeface="IBM Plex Sans" pitchFamily="34" charset="0"/>
                <a:ea typeface="IBM Plex Sans" pitchFamily="34" charset="-122"/>
                <a:cs typeface="IBM Plex Sans" pitchFamily="34" charset="-120"/>
              </a:rPr>
              <a:t>98.74%</a:t>
            </a:r>
            <a:endParaRPr lang="en-US" sz="2400" dirty="0"/>
          </a:p>
        </p:txBody>
      </p:sp>
      <p:sp>
        <p:nvSpPr>
          <p:cNvPr id="10" name="Text 8"/>
          <p:cNvSpPr/>
          <p:nvPr/>
        </p:nvSpPr>
        <p:spPr>
          <a:xfrm>
            <a:off x="4382076" y="2704474"/>
            <a:ext cx="754460"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Precision</a:t>
            </a:r>
            <a:endParaRPr lang="en-US" sz="1200" dirty="0"/>
          </a:p>
        </p:txBody>
      </p:sp>
      <p:sp>
        <p:nvSpPr>
          <p:cNvPr id="11" name="Shape 9"/>
          <p:cNvSpPr/>
          <p:nvPr/>
        </p:nvSpPr>
        <p:spPr>
          <a:xfrm>
            <a:off x="6162658" y="2085646"/>
            <a:ext cx="2540016" cy="986264"/>
          </a:xfrm>
          <a:prstGeom prst="roundRect">
            <a:avLst>
              <a:gd name="adj" fmla="val 9980"/>
            </a:avLst>
          </a:prstGeom>
          <a:solidFill>
            <a:srgbClr val="FFFFFF"/>
          </a:solidFill>
          <a:ln w="6350">
            <a:solidFill>
              <a:srgbClr val="E2E6EA"/>
            </a:solidFill>
            <a:prstDash val="solid"/>
          </a:ln>
        </p:spPr>
      </p:sp>
      <p:sp>
        <p:nvSpPr>
          <p:cNvPr id="12" name="Text 10"/>
          <p:cNvSpPr/>
          <p:nvPr/>
        </p:nvSpPr>
        <p:spPr>
          <a:xfrm>
            <a:off x="6758896" y="2239745"/>
            <a:ext cx="1347465" cy="452070"/>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2F5FA8"/>
                </a:solidFill>
                <a:latin typeface="IBM Plex Sans" pitchFamily="34" charset="0"/>
                <a:ea typeface="IBM Plex Sans" pitchFamily="34" charset="-122"/>
                <a:cs typeface="IBM Plex Sans" pitchFamily="34" charset="-120"/>
              </a:rPr>
              <a:t>98.59%</a:t>
            </a:r>
            <a:endParaRPr lang="en-US" sz="2400" dirty="0"/>
          </a:p>
        </p:txBody>
      </p:sp>
      <p:sp>
        <p:nvSpPr>
          <p:cNvPr id="13" name="Text 11"/>
          <p:cNvSpPr/>
          <p:nvPr/>
        </p:nvSpPr>
        <p:spPr>
          <a:xfrm>
            <a:off x="7181195" y="2704474"/>
            <a:ext cx="502943"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Recall</a:t>
            </a:r>
            <a:endParaRPr lang="en-US" sz="1200" dirty="0"/>
          </a:p>
        </p:txBody>
      </p:sp>
      <p:sp>
        <p:nvSpPr>
          <p:cNvPr id="14" name="Shape 12"/>
          <p:cNvSpPr/>
          <p:nvPr/>
        </p:nvSpPr>
        <p:spPr>
          <a:xfrm>
            <a:off x="8836019" y="2085646"/>
            <a:ext cx="2540016" cy="986264"/>
          </a:xfrm>
          <a:prstGeom prst="roundRect">
            <a:avLst>
              <a:gd name="adj" fmla="val 9980"/>
            </a:avLst>
          </a:prstGeom>
          <a:solidFill>
            <a:srgbClr val="FFFFFF"/>
          </a:solidFill>
          <a:ln w="6350">
            <a:solidFill>
              <a:srgbClr val="E2E6EA"/>
            </a:solidFill>
            <a:prstDash val="solid"/>
          </a:ln>
        </p:spPr>
      </p:sp>
      <p:sp>
        <p:nvSpPr>
          <p:cNvPr id="15" name="Text 13"/>
          <p:cNvSpPr/>
          <p:nvPr/>
        </p:nvSpPr>
        <p:spPr>
          <a:xfrm>
            <a:off x="9432257" y="2239745"/>
            <a:ext cx="1347465" cy="452070"/>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2F5FA8"/>
                </a:solidFill>
                <a:latin typeface="IBM Plex Sans" pitchFamily="34" charset="0"/>
                <a:ea typeface="IBM Plex Sans" pitchFamily="34" charset="-122"/>
                <a:cs typeface="IBM Plex Sans" pitchFamily="34" charset="-120"/>
              </a:rPr>
              <a:t>98.66%</a:t>
            </a:r>
            <a:endParaRPr lang="en-US" sz="2400" dirty="0"/>
          </a:p>
        </p:txBody>
      </p:sp>
      <p:sp>
        <p:nvSpPr>
          <p:cNvPr id="16" name="Text 14"/>
          <p:cNvSpPr/>
          <p:nvPr/>
        </p:nvSpPr>
        <p:spPr>
          <a:xfrm>
            <a:off x="9753967" y="2704474"/>
            <a:ext cx="704120"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F1 score</a:t>
            </a:r>
            <a:endParaRPr lang="en-US" sz="1200" dirty="0"/>
          </a:p>
        </p:txBody>
      </p:sp>
      <p:sp>
        <p:nvSpPr>
          <p:cNvPr id="17" name="Text 15"/>
          <p:cNvSpPr/>
          <p:nvPr/>
        </p:nvSpPr>
        <p:spPr>
          <a:xfrm>
            <a:off x="1729607" y="3252881"/>
            <a:ext cx="2447959" cy="238735"/>
          </a:xfrm>
          <a:prstGeom prst="rect">
            <a:avLst/>
          </a:prstGeom>
          <a:noFill/>
          <a:ln/>
        </p:spPr>
        <p:txBody>
          <a:bodyPr wrap="square" lIns="0" tIns="0" rIns="0" bIns="0" rtlCol="0" anchor="t">
            <a:normAutofit/>
          </a:bodyPr>
          <a:lstStyle/>
          <a:p>
            <a:pPr algn="ctr" indent="0" marL="0">
              <a:lnSpc>
                <a:spcPts val="1680"/>
              </a:lnSpc>
              <a:buNone/>
            </a:pPr>
            <a:r>
              <a:rPr lang="en-US" sz="1200" spc="50" kern="0" dirty="0">
                <a:solidFill>
                  <a:srgbClr val="8A95A1"/>
                </a:solidFill>
                <a:latin typeface="IBM Plex Sans" pitchFamily="34" charset="0"/>
                <a:ea typeface="IBM Plex Sans" pitchFamily="34" charset="-122"/>
                <a:cs typeface="IBM Plex Sans" pitchFamily="34" charset="-120"/>
              </a:rPr>
              <a:t>PREDICTED SPAM</a:t>
            </a:r>
            <a:endParaRPr lang="en-US" sz="1200" dirty="0"/>
          </a:p>
        </p:txBody>
      </p:sp>
      <p:sp>
        <p:nvSpPr>
          <p:cNvPr id="18" name="Text 16"/>
          <p:cNvSpPr/>
          <p:nvPr/>
        </p:nvSpPr>
        <p:spPr>
          <a:xfrm>
            <a:off x="4169724" y="3252881"/>
            <a:ext cx="2448038" cy="238735"/>
          </a:xfrm>
          <a:prstGeom prst="rect">
            <a:avLst/>
          </a:prstGeom>
          <a:noFill/>
          <a:ln/>
        </p:spPr>
        <p:txBody>
          <a:bodyPr wrap="square" lIns="0" tIns="0" rIns="0" bIns="0" rtlCol="0" anchor="t">
            <a:normAutofit/>
          </a:bodyPr>
          <a:lstStyle/>
          <a:p>
            <a:pPr algn="ctr" indent="0" marL="0">
              <a:lnSpc>
                <a:spcPts val="1680"/>
              </a:lnSpc>
              <a:buNone/>
            </a:pPr>
            <a:r>
              <a:rPr lang="en-US" sz="1200" spc="50" kern="0" dirty="0">
                <a:solidFill>
                  <a:srgbClr val="8A95A1"/>
                </a:solidFill>
                <a:latin typeface="IBM Plex Sans" pitchFamily="34" charset="0"/>
                <a:ea typeface="IBM Plex Sans" pitchFamily="34" charset="-122"/>
                <a:cs typeface="IBM Plex Sans" pitchFamily="34" charset="-120"/>
              </a:rPr>
              <a:t>PREDICTED HAM</a:t>
            </a:r>
            <a:endParaRPr lang="en-US" sz="1200" dirty="0"/>
          </a:p>
        </p:txBody>
      </p:sp>
      <p:sp>
        <p:nvSpPr>
          <p:cNvPr id="19" name="Text 17"/>
          <p:cNvSpPr/>
          <p:nvPr/>
        </p:nvSpPr>
        <p:spPr>
          <a:xfrm>
            <a:off x="812763" y="3812797"/>
            <a:ext cx="952418" cy="23873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2B39"/>
                </a:solidFill>
                <a:latin typeface="IBM Plex Sans" pitchFamily="34" charset="0"/>
                <a:ea typeface="IBM Plex Sans" pitchFamily="34" charset="-122"/>
                <a:cs typeface="IBM Plex Sans" pitchFamily="34" charset="-120"/>
              </a:rPr>
              <a:t>Actual spam</a:t>
            </a:r>
            <a:endParaRPr lang="en-US" sz="1200" dirty="0"/>
          </a:p>
        </p:txBody>
      </p:sp>
      <p:sp>
        <p:nvSpPr>
          <p:cNvPr id="20" name="Shape 18"/>
          <p:cNvSpPr/>
          <p:nvPr/>
        </p:nvSpPr>
        <p:spPr>
          <a:xfrm>
            <a:off x="1765181" y="3529670"/>
            <a:ext cx="2376736" cy="779660"/>
          </a:xfrm>
          <a:prstGeom prst="roundRect">
            <a:avLst>
              <a:gd name="adj" fmla="val 9773"/>
            </a:avLst>
          </a:prstGeom>
          <a:solidFill>
            <a:srgbClr val="E7F3EA"/>
          </a:solidFill>
          <a:ln/>
        </p:spPr>
      </p:sp>
      <p:sp>
        <p:nvSpPr>
          <p:cNvPr id="21" name="Text 19"/>
          <p:cNvSpPr/>
          <p:nvPr/>
        </p:nvSpPr>
        <p:spPr>
          <a:xfrm>
            <a:off x="1847214" y="3643926"/>
            <a:ext cx="2212669" cy="363212"/>
          </a:xfrm>
          <a:prstGeom prst="rect">
            <a:avLst/>
          </a:prstGeom>
          <a:noFill/>
          <a:ln/>
        </p:spPr>
        <p:txBody>
          <a:bodyPr wrap="square" lIns="0" tIns="0" rIns="0" bIns="0" rtlCol="0" anchor="t">
            <a:normAutofit/>
          </a:bodyPr>
          <a:lstStyle/>
          <a:p>
            <a:pPr algn="ctr" indent="0" marL="0">
              <a:lnSpc>
                <a:spcPts val="2660"/>
              </a:lnSpc>
              <a:buNone/>
            </a:pPr>
            <a:r>
              <a:rPr lang="en-US" sz="1900" b="1" dirty="0">
                <a:solidFill>
                  <a:srgbClr val="1E7B34"/>
                </a:solidFill>
                <a:latin typeface="IBM Plex Sans" pitchFamily="34" charset="0"/>
                <a:ea typeface="IBM Plex Sans" pitchFamily="34" charset="-122"/>
                <a:cs typeface="IBM Plex Sans" pitchFamily="34" charset="-120"/>
              </a:rPr>
              <a:t>3357</a:t>
            </a:r>
            <a:endParaRPr lang="en-US" sz="1900" dirty="0"/>
          </a:p>
        </p:txBody>
      </p:sp>
      <p:sp>
        <p:nvSpPr>
          <p:cNvPr id="22" name="Text 20"/>
          <p:cNvSpPr/>
          <p:nvPr/>
        </p:nvSpPr>
        <p:spPr>
          <a:xfrm>
            <a:off x="1847214" y="3981741"/>
            <a:ext cx="2212669"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E7B34"/>
                </a:solidFill>
                <a:latin typeface="IBM Plex Sans" pitchFamily="34" charset="0"/>
                <a:ea typeface="IBM Plex Sans" pitchFamily="34" charset="-122"/>
                <a:cs typeface="IBM Plex Sans" pitchFamily="34" charset="-120"/>
              </a:rPr>
              <a:t>True positive</a:t>
            </a:r>
            <a:endParaRPr lang="en-US" sz="1200" dirty="0"/>
          </a:p>
        </p:txBody>
      </p:sp>
      <p:sp>
        <p:nvSpPr>
          <p:cNvPr id="23" name="Shape 21"/>
          <p:cNvSpPr/>
          <p:nvPr/>
        </p:nvSpPr>
        <p:spPr>
          <a:xfrm>
            <a:off x="4205375" y="3529670"/>
            <a:ext cx="2376736" cy="779660"/>
          </a:xfrm>
          <a:prstGeom prst="roundRect">
            <a:avLst>
              <a:gd name="adj" fmla="val 9773"/>
            </a:avLst>
          </a:prstGeom>
          <a:solidFill>
            <a:srgbClr val="FBEAE8"/>
          </a:solidFill>
          <a:ln/>
        </p:spPr>
      </p:sp>
      <p:sp>
        <p:nvSpPr>
          <p:cNvPr id="24" name="Text 22"/>
          <p:cNvSpPr/>
          <p:nvPr/>
        </p:nvSpPr>
        <p:spPr>
          <a:xfrm>
            <a:off x="4287408" y="3643926"/>
            <a:ext cx="2212669" cy="363212"/>
          </a:xfrm>
          <a:prstGeom prst="rect">
            <a:avLst/>
          </a:prstGeom>
          <a:noFill/>
          <a:ln/>
        </p:spPr>
        <p:txBody>
          <a:bodyPr wrap="square" lIns="0" tIns="0" rIns="0" bIns="0" rtlCol="0" anchor="t">
            <a:normAutofit/>
          </a:bodyPr>
          <a:lstStyle/>
          <a:p>
            <a:pPr algn="ctr" indent="0" marL="0">
              <a:lnSpc>
                <a:spcPts val="2660"/>
              </a:lnSpc>
              <a:buNone/>
            </a:pPr>
            <a:r>
              <a:rPr lang="en-US" sz="1900" b="1" dirty="0">
                <a:solidFill>
                  <a:srgbClr val="B5321C"/>
                </a:solidFill>
                <a:latin typeface="IBM Plex Sans" pitchFamily="34" charset="0"/>
                <a:ea typeface="IBM Plex Sans" pitchFamily="34" charset="-122"/>
                <a:cs typeface="IBM Plex Sans" pitchFamily="34" charset="-120"/>
              </a:rPr>
              <a:t>48</a:t>
            </a:r>
            <a:endParaRPr lang="en-US" sz="1900" dirty="0"/>
          </a:p>
        </p:txBody>
      </p:sp>
      <p:sp>
        <p:nvSpPr>
          <p:cNvPr id="25" name="Text 23"/>
          <p:cNvSpPr/>
          <p:nvPr/>
        </p:nvSpPr>
        <p:spPr>
          <a:xfrm>
            <a:off x="4287408" y="3981741"/>
            <a:ext cx="2212669"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5321C"/>
                </a:solidFill>
                <a:latin typeface="IBM Plex Sans" pitchFamily="34" charset="0"/>
                <a:ea typeface="IBM Plex Sans" pitchFamily="34" charset="-122"/>
                <a:cs typeface="IBM Plex Sans" pitchFamily="34" charset="-120"/>
              </a:rPr>
              <a:t>False negative</a:t>
            </a:r>
            <a:endParaRPr lang="en-US" sz="1200" dirty="0"/>
          </a:p>
        </p:txBody>
      </p:sp>
      <p:sp>
        <p:nvSpPr>
          <p:cNvPr id="26" name="Text 24"/>
          <p:cNvSpPr/>
          <p:nvPr/>
        </p:nvSpPr>
        <p:spPr>
          <a:xfrm>
            <a:off x="812763" y="4655914"/>
            <a:ext cx="939759" cy="23873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2B39"/>
                </a:solidFill>
                <a:latin typeface="IBM Plex Sans" pitchFamily="34" charset="0"/>
                <a:ea typeface="IBM Plex Sans" pitchFamily="34" charset="-122"/>
                <a:cs typeface="IBM Plex Sans" pitchFamily="34" charset="-120"/>
              </a:rPr>
              <a:t>Actual ham</a:t>
            </a:r>
            <a:endParaRPr lang="en-US" sz="1200" dirty="0"/>
          </a:p>
        </p:txBody>
      </p:sp>
      <p:sp>
        <p:nvSpPr>
          <p:cNvPr id="27" name="Shape 25"/>
          <p:cNvSpPr/>
          <p:nvPr/>
        </p:nvSpPr>
        <p:spPr>
          <a:xfrm>
            <a:off x="1765181" y="4372794"/>
            <a:ext cx="2376736" cy="779660"/>
          </a:xfrm>
          <a:prstGeom prst="roundRect">
            <a:avLst>
              <a:gd name="adj" fmla="val 9773"/>
            </a:avLst>
          </a:prstGeom>
          <a:solidFill>
            <a:srgbClr val="FBEAE8"/>
          </a:solidFill>
          <a:ln/>
        </p:spPr>
      </p:sp>
      <p:sp>
        <p:nvSpPr>
          <p:cNvPr id="28" name="Text 26"/>
          <p:cNvSpPr/>
          <p:nvPr/>
        </p:nvSpPr>
        <p:spPr>
          <a:xfrm>
            <a:off x="1847214" y="4487050"/>
            <a:ext cx="2212669" cy="363212"/>
          </a:xfrm>
          <a:prstGeom prst="rect">
            <a:avLst/>
          </a:prstGeom>
          <a:noFill/>
          <a:ln/>
        </p:spPr>
        <p:txBody>
          <a:bodyPr wrap="square" lIns="0" tIns="0" rIns="0" bIns="0" rtlCol="0" anchor="t">
            <a:normAutofit/>
          </a:bodyPr>
          <a:lstStyle/>
          <a:p>
            <a:pPr algn="ctr" indent="0" marL="0">
              <a:lnSpc>
                <a:spcPts val="2660"/>
              </a:lnSpc>
              <a:buNone/>
            </a:pPr>
            <a:r>
              <a:rPr lang="en-US" sz="1900" b="1" dirty="0">
                <a:solidFill>
                  <a:srgbClr val="B5321C"/>
                </a:solidFill>
                <a:latin typeface="IBM Plex Sans" pitchFamily="34" charset="0"/>
                <a:ea typeface="IBM Plex Sans" pitchFamily="34" charset="-122"/>
                <a:cs typeface="IBM Plex Sans" pitchFamily="34" charset="-120"/>
              </a:rPr>
              <a:t>43</a:t>
            </a:r>
            <a:endParaRPr lang="en-US" sz="1900" dirty="0"/>
          </a:p>
        </p:txBody>
      </p:sp>
      <p:sp>
        <p:nvSpPr>
          <p:cNvPr id="29" name="Text 27"/>
          <p:cNvSpPr/>
          <p:nvPr/>
        </p:nvSpPr>
        <p:spPr>
          <a:xfrm>
            <a:off x="1847214" y="4824859"/>
            <a:ext cx="2212669"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5321C"/>
                </a:solidFill>
                <a:latin typeface="IBM Plex Sans" pitchFamily="34" charset="0"/>
                <a:ea typeface="IBM Plex Sans" pitchFamily="34" charset="-122"/>
                <a:cs typeface="IBM Plex Sans" pitchFamily="34" charset="-120"/>
              </a:rPr>
              <a:t>False positive</a:t>
            </a:r>
            <a:endParaRPr lang="en-US" sz="1200" dirty="0"/>
          </a:p>
        </p:txBody>
      </p:sp>
      <p:sp>
        <p:nvSpPr>
          <p:cNvPr id="30" name="Shape 28"/>
          <p:cNvSpPr/>
          <p:nvPr/>
        </p:nvSpPr>
        <p:spPr>
          <a:xfrm>
            <a:off x="4205375" y="4372794"/>
            <a:ext cx="2376736" cy="779660"/>
          </a:xfrm>
          <a:prstGeom prst="roundRect">
            <a:avLst>
              <a:gd name="adj" fmla="val 9773"/>
            </a:avLst>
          </a:prstGeom>
          <a:solidFill>
            <a:srgbClr val="E7F3EA"/>
          </a:solidFill>
          <a:ln/>
        </p:spPr>
      </p:sp>
      <p:sp>
        <p:nvSpPr>
          <p:cNvPr id="31" name="Text 29"/>
          <p:cNvSpPr/>
          <p:nvPr/>
        </p:nvSpPr>
        <p:spPr>
          <a:xfrm>
            <a:off x="4287408" y="4487050"/>
            <a:ext cx="2212669" cy="363212"/>
          </a:xfrm>
          <a:prstGeom prst="rect">
            <a:avLst/>
          </a:prstGeom>
          <a:noFill/>
          <a:ln/>
        </p:spPr>
        <p:txBody>
          <a:bodyPr wrap="square" lIns="0" tIns="0" rIns="0" bIns="0" rtlCol="0" anchor="t">
            <a:normAutofit/>
          </a:bodyPr>
          <a:lstStyle/>
          <a:p>
            <a:pPr algn="ctr" indent="0" marL="0">
              <a:lnSpc>
                <a:spcPts val="2660"/>
              </a:lnSpc>
              <a:buNone/>
            </a:pPr>
            <a:r>
              <a:rPr lang="en-US" sz="1900" b="1" dirty="0">
                <a:solidFill>
                  <a:srgbClr val="1E7B34"/>
                </a:solidFill>
                <a:latin typeface="IBM Plex Sans" pitchFamily="34" charset="0"/>
                <a:ea typeface="IBM Plex Sans" pitchFamily="34" charset="-122"/>
                <a:cs typeface="IBM Plex Sans" pitchFamily="34" charset="-120"/>
              </a:rPr>
              <a:t>3254</a:t>
            </a:r>
            <a:endParaRPr lang="en-US" sz="1900" dirty="0"/>
          </a:p>
        </p:txBody>
      </p:sp>
      <p:sp>
        <p:nvSpPr>
          <p:cNvPr id="32" name="Text 30"/>
          <p:cNvSpPr/>
          <p:nvPr/>
        </p:nvSpPr>
        <p:spPr>
          <a:xfrm>
            <a:off x="4287408" y="4824859"/>
            <a:ext cx="2212669" cy="23873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E7B34"/>
                </a:solidFill>
                <a:latin typeface="IBM Plex Sans" pitchFamily="34" charset="0"/>
                <a:ea typeface="IBM Plex Sans" pitchFamily="34" charset="-122"/>
                <a:cs typeface="IBM Plex Sans" pitchFamily="34" charset="-120"/>
              </a:rPr>
              <a:t>True negative</a:t>
            </a:r>
            <a:endParaRPr lang="en-US" sz="1200" dirty="0"/>
          </a:p>
        </p:txBody>
      </p:sp>
      <p:sp>
        <p:nvSpPr>
          <p:cNvPr id="33" name="Shape 31"/>
          <p:cNvSpPr/>
          <p:nvPr/>
        </p:nvSpPr>
        <p:spPr>
          <a:xfrm>
            <a:off x="6813876" y="3256056"/>
            <a:ext cx="4562084" cy="1893223"/>
          </a:xfrm>
          <a:prstGeom prst="roundRect">
            <a:avLst>
              <a:gd name="adj" fmla="val 5199"/>
            </a:avLst>
          </a:prstGeom>
          <a:solidFill>
            <a:srgbClr val="FFFFFF"/>
          </a:solidFill>
          <a:ln w="6350">
            <a:solidFill>
              <a:srgbClr val="E2E6EA"/>
            </a:solidFill>
            <a:prstDash val="solid"/>
          </a:ln>
        </p:spPr>
      </p:sp>
      <p:sp>
        <p:nvSpPr>
          <p:cNvPr id="34" name="Shape 32"/>
          <p:cNvSpPr/>
          <p:nvPr/>
        </p:nvSpPr>
        <p:spPr>
          <a:xfrm>
            <a:off x="7006035" y="3708605"/>
            <a:ext cx="114257" cy="114257"/>
          </a:xfrm>
          <a:prstGeom prst="roundRect">
            <a:avLst>
              <a:gd name="adj" fmla="val 22231"/>
            </a:avLst>
          </a:prstGeom>
          <a:solidFill>
            <a:srgbClr val="1E7B34"/>
          </a:solidFill>
          <a:ln/>
        </p:spPr>
      </p:sp>
      <p:sp>
        <p:nvSpPr>
          <p:cNvPr id="35" name="Text 33"/>
          <p:cNvSpPr/>
          <p:nvPr/>
        </p:nvSpPr>
        <p:spPr>
          <a:xfrm>
            <a:off x="7209149" y="3659107"/>
            <a:ext cx="2271067"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049"/>
                </a:solidFill>
                <a:latin typeface="IBM Plex Sans" pitchFamily="34" charset="0"/>
                <a:ea typeface="IBM Plex Sans" pitchFamily="34" charset="-122"/>
                <a:cs typeface="IBM Plex Sans" pitchFamily="34" charset="-120"/>
              </a:rPr>
              <a:t>6,611 of 6,702 correct calls</a:t>
            </a:r>
            <a:endParaRPr lang="en-US" sz="1200" dirty="0"/>
          </a:p>
        </p:txBody>
      </p:sp>
      <p:sp>
        <p:nvSpPr>
          <p:cNvPr id="36" name="Shape 34"/>
          <p:cNvSpPr/>
          <p:nvPr/>
        </p:nvSpPr>
        <p:spPr>
          <a:xfrm>
            <a:off x="7006035" y="4023537"/>
            <a:ext cx="114257" cy="114257"/>
          </a:xfrm>
          <a:prstGeom prst="roundRect">
            <a:avLst>
              <a:gd name="adj" fmla="val 22231"/>
            </a:avLst>
          </a:prstGeom>
          <a:solidFill>
            <a:srgbClr val="B5321C"/>
          </a:solidFill>
          <a:ln/>
        </p:spPr>
      </p:sp>
      <p:sp>
        <p:nvSpPr>
          <p:cNvPr id="37" name="Text 35"/>
          <p:cNvSpPr/>
          <p:nvPr/>
        </p:nvSpPr>
        <p:spPr>
          <a:xfrm>
            <a:off x="7209149" y="3974040"/>
            <a:ext cx="1735907"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049"/>
                </a:solidFill>
                <a:latin typeface="IBM Plex Sans" pitchFamily="34" charset="0"/>
                <a:ea typeface="IBM Plex Sans" pitchFamily="34" charset="-122"/>
                <a:cs typeface="IBM Plex Sans" pitchFamily="34" charset="-120"/>
              </a:rPr>
              <a:t>91 of 6,702 mistakes</a:t>
            </a:r>
            <a:endParaRPr lang="en-US" sz="1200" dirty="0"/>
          </a:p>
        </p:txBody>
      </p:sp>
      <p:sp>
        <p:nvSpPr>
          <p:cNvPr id="38" name="Text 36"/>
          <p:cNvSpPr/>
          <p:nvPr/>
        </p:nvSpPr>
        <p:spPr>
          <a:xfrm>
            <a:off x="7006035" y="4288966"/>
            <a:ext cx="4303097" cy="482579"/>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6525C"/>
                </a:solidFill>
                <a:latin typeface="IBM Plex Sans" pitchFamily="34" charset="0"/>
                <a:ea typeface="IBM Plex Sans" pitchFamily="34" charset="-122"/>
                <a:cs typeface="IBM Plex Sans" pitchFamily="34" charset="-120"/>
              </a:rPr>
              <a:t>All 35 held-out demo emails, the ones the inbox and Spam Detector presets actually show, also classify correctly.</a:t>
            </a:r>
            <a:endParaRPr lang="en-US" sz="1200" dirty="0"/>
          </a:p>
        </p:txBody>
      </p:sp>
      <p:sp>
        <p:nvSpPr>
          <p:cNvPr id="39" name="Text 37"/>
          <p:cNvSpPr/>
          <p:nvPr/>
        </p:nvSpPr>
        <p:spPr>
          <a:xfrm>
            <a:off x="812763" y="6238267"/>
            <a:ext cx="839306"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Outcomes</a:t>
            </a:r>
            <a:endParaRPr lang="en-US" sz="1200" dirty="0"/>
          </a:p>
        </p:txBody>
      </p:sp>
      <p:sp>
        <p:nvSpPr>
          <p:cNvPr id="40" name="Text 38"/>
          <p:cNvSpPr/>
          <p:nvPr/>
        </p:nvSpPr>
        <p:spPr>
          <a:xfrm>
            <a:off x="10783916" y="6238267"/>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13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711169"/>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OUTCOMES</a:t>
            </a:r>
            <a:endParaRPr lang="en-US" sz="1200" dirty="0"/>
          </a:p>
        </p:txBody>
      </p:sp>
      <p:sp>
        <p:nvSpPr>
          <p:cNvPr id="3" name="Text 1"/>
          <p:cNvSpPr/>
          <p:nvPr>
            <p:ph type="title"/>
          </p:nvPr>
        </p:nvSpPr>
        <p:spPr>
          <a:xfrm>
            <a:off x="812763" y="1013358"/>
            <a:ext cx="10883441" cy="434298"/>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C2B39"/>
                </a:solidFill>
                <a:latin typeface="Source Serif 4" pitchFamily="18" charset="0"/>
                <a:ea typeface="Source Serif 4" pitchFamily="18" charset="-122"/>
                <a:cs typeface="Source Serif 4" pitchFamily="18" charset="-120"/>
              </a:rPr>
              <a:t>The real challenge was finding real data</a:t>
            </a:r>
            <a:endParaRPr lang="en-US" sz="2800" dirty="0"/>
          </a:p>
        </p:txBody>
      </p:sp>
      <p:sp>
        <p:nvSpPr>
          <p:cNvPr id="4" name="Shape 2"/>
          <p:cNvSpPr/>
          <p:nvPr/>
        </p:nvSpPr>
        <p:spPr>
          <a:xfrm>
            <a:off x="815938" y="1628620"/>
            <a:ext cx="5207046" cy="2032116"/>
          </a:xfrm>
          <a:prstGeom prst="roundRect">
            <a:avLst>
              <a:gd name="adj" fmla="val 4843"/>
            </a:avLst>
          </a:prstGeom>
          <a:solidFill>
            <a:srgbClr val="FFFFFF"/>
          </a:solidFill>
          <a:ln w="6350">
            <a:solidFill>
              <a:srgbClr val="E2E6EA"/>
            </a:solidFill>
            <a:prstDash val="solid"/>
          </a:ln>
        </p:spPr>
      </p:sp>
      <p:pic>
        <p:nvPicPr>
          <p:cNvPr id="5" name="Image 0" descr="Globe">    </p:cNvPr>
          <p:cNvPicPr>
            <a:picLocks noChangeAspect="1"/>
          </p:cNvPicPr>
          <p:nvPr/>
        </p:nvPicPr>
        <p:blipFill>
          <a:blip r:embed="rId1"/>
          <a:srcRect l="0" r="0" t="0" b="0"/>
          <a:stretch/>
        </p:blipFill>
        <p:spPr>
          <a:xfrm>
            <a:off x="1008097" y="1820782"/>
            <a:ext cx="215852" cy="215852"/>
          </a:xfrm>
          <a:prstGeom prst="rect">
            <a:avLst/>
          </a:prstGeom>
        </p:spPr>
      </p:pic>
      <p:sp>
        <p:nvSpPr>
          <p:cNvPr id="6" name="Text 3"/>
          <p:cNvSpPr/>
          <p:nvPr/>
        </p:nvSpPr>
        <p:spPr>
          <a:xfrm>
            <a:off x="1008097" y="2112832"/>
            <a:ext cx="4967409" cy="22355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2B39"/>
                </a:solidFill>
                <a:latin typeface="IBM Plex Sans" pitchFamily="34" charset="0"/>
                <a:ea typeface="IBM Plex Sans" pitchFamily="34" charset="-122"/>
                <a:cs typeface="IBM Plex Sans" pitchFamily="34" charset="-120"/>
              </a:rPr>
              <a:t>Reaching the real dataset</a:t>
            </a:r>
            <a:endParaRPr lang="en-US" sz="1300" dirty="0"/>
          </a:p>
        </p:txBody>
      </p:sp>
      <p:sp>
        <p:nvSpPr>
          <p:cNvPr id="7" name="Text 4"/>
          <p:cNvSpPr/>
          <p:nvPr/>
        </p:nvSpPr>
        <p:spPr>
          <a:xfrm>
            <a:off x="1008097" y="2387185"/>
            <a:ext cx="4967409" cy="68828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25C"/>
                </a:solidFill>
                <a:latin typeface="IBM Plex Sans" pitchFamily="34" charset="0"/>
                <a:ea typeface="IBM Plex Sans" pitchFamily="34" charset="-122"/>
                <a:cs typeface="IBM Plex Sans" pitchFamily="34" charset="-120"/>
              </a:rPr>
              <a:t>The usual sources were blocked from the build environment. A public mirror of the same released Enron-Spam corpus was reachable instead.</a:t>
            </a:r>
            <a:endParaRPr lang="en-US" sz="1200" dirty="0"/>
          </a:p>
        </p:txBody>
      </p:sp>
      <p:sp>
        <p:nvSpPr>
          <p:cNvPr id="8" name="Shape 5"/>
          <p:cNvSpPr/>
          <p:nvPr/>
        </p:nvSpPr>
        <p:spPr>
          <a:xfrm>
            <a:off x="6168989" y="1628620"/>
            <a:ext cx="5207046" cy="2032116"/>
          </a:xfrm>
          <a:prstGeom prst="roundRect">
            <a:avLst>
              <a:gd name="adj" fmla="val 4843"/>
            </a:avLst>
          </a:prstGeom>
          <a:solidFill>
            <a:srgbClr val="FFFFFF"/>
          </a:solidFill>
          <a:ln w="6350">
            <a:solidFill>
              <a:srgbClr val="E2E6EA"/>
            </a:solidFill>
            <a:prstDash val="solid"/>
          </a:ln>
        </p:spPr>
      </p:sp>
      <p:pic>
        <p:nvPicPr>
          <p:cNvPr id="9" name="Image 1" descr="Code">    </p:cNvPr>
          <p:cNvPicPr>
            <a:picLocks noChangeAspect="1"/>
          </p:cNvPicPr>
          <p:nvPr/>
        </p:nvPicPr>
        <p:blipFill>
          <a:blip r:embed="rId2"/>
          <a:srcRect l="0" r="0" t="0" b="0"/>
          <a:stretch/>
        </p:blipFill>
        <p:spPr>
          <a:xfrm>
            <a:off x="6361149" y="1820782"/>
            <a:ext cx="215852" cy="215852"/>
          </a:xfrm>
          <a:prstGeom prst="rect">
            <a:avLst/>
          </a:prstGeom>
        </p:spPr>
      </p:pic>
      <p:sp>
        <p:nvSpPr>
          <p:cNvPr id="10" name="Text 6"/>
          <p:cNvSpPr/>
          <p:nvPr/>
        </p:nvSpPr>
        <p:spPr>
          <a:xfrm>
            <a:off x="6361149" y="2112832"/>
            <a:ext cx="4967409" cy="22355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2B39"/>
                </a:solidFill>
                <a:latin typeface="IBM Plex Sans" pitchFamily="34" charset="0"/>
                <a:ea typeface="IBM Plex Sans" pitchFamily="34" charset="-122"/>
                <a:cs typeface="IBM Plex Sans" pitchFamily="34" charset="-120"/>
              </a:rPr>
              <a:t>Pre-tokenized, unreadable text</a:t>
            </a:r>
            <a:endParaRPr lang="en-US" sz="1300" dirty="0"/>
          </a:p>
        </p:txBody>
      </p:sp>
      <p:sp>
        <p:nvSpPr>
          <p:cNvPr id="11" name="Text 7"/>
          <p:cNvSpPr/>
          <p:nvPr/>
        </p:nvSpPr>
        <p:spPr>
          <a:xfrm>
            <a:off x="6361149" y="2387185"/>
            <a:ext cx="4967409" cy="68828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25C"/>
                </a:solidFill>
                <a:latin typeface="IBM Plex Sans" pitchFamily="34" charset="0"/>
                <a:ea typeface="IBM Plex Sans" pitchFamily="34" charset="-122"/>
                <a:cs typeface="IBM Plex Sans" pitchFamily="34" charset="-120"/>
              </a:rPr>
              <a:t>The source corpus is lowercased and split apart, so raw emails looked broken in the UI. A cosmetic cleanup fixes display only, never what the model sees.</a:t>
            </a:r>
            <a:endParaRPr lang="en-US" sz="1200" dirty="0"/>
          </a:p>
        </p:txBody>
      </p:sp>
      <p:sp>
        <p:nvSpPr>
          <p:cNvPr id="12" name="Shape 8"/>
          <p:cNvSpPr/>
          <p:nvPr/>
        </p:nvSpPr>
        <p:spPr>
          <a:xfrm>
            <a:off x="815938" y="3806744"/>
            <a:ext cx="5207046" cy="2032116"/>
          </a:xfrm>
          <a:prstGeom prst="roundRect">
            <a:avLst>
              <a:gd name="adj" fmla="val 4843"/>
            </a:avLst>
          </a:prstGeom>
          <a:solidFill>
            <a:srgbClr val="FFFFFF"/>
          </a:solidFill>
          <a:ln w="6350">
            <a:solidFill>
              <a:srgbClr val="E2E6EA"/>
            </a:solidFill>
            <a:prstDash val="solid"/>
          </a:ln>
        </p:spPr>
      </p:sp>
      <p:pic>
        <p:nvPicPr>
          <p:cNvPr id="13" name="Image 2" descr="CheckCircle">    </p:cNvPr>
          <p:cNvPicPr>
            <a:picLocks noChangeAspect="1"/>
          </p:cNvPicPr>
          <p:nvPr/>
        </p:nvPicPr>
        <p:blipFill>
          <a:blip r:embed="rId3"/>
          <a:srcRect l="0" r="0" t="0" b="0"/>
          <a:stretch/>
        </p:blipFill>
        <p:spPr>
          <a:xfrm>
            <a:off x="1008097" y="3998906"/>
            <a:ext cx="215852" cy="215852"/>
          </a:xfrm>
          <a:prstGeom prst="rect">
            <a:avLst/>
          </a:prstGeom>
        </p:spPr>
      </p:pic>
      <p:sp>
        <p:nvSpPr>
          <p:cNvPr id="14" name="Text 9"/>
          <p:cNvSpPr/>
          <p:nvPr/>
        </p:nvSpPr>
        <p:spPr>
          <a:xfrm>
            <a:off x="1008097" y="4290950"/>
            <a:ext cx="4967409" cy="22355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2B39"/>
                </a:solidFill>
                <a:latin typeface="IBM Plex Sans" pitchFamily="34" charset="0"/>
                <a:ea typeface="IBM Plex Sans" pitchFamily="34" charset="-122"/>
                <a:cs typeface="IBM Plex Sans" pitchFamily="34" charset="-120"/>
              </a:rPr>
              <a:t>A verdict reading only a preview</a:t>
            </a:r>
            <a:endParaRPr lang="en-US" sz="1300" dirty="0"/>
          </a:p>
        </p:txBody>
      </p:sp>
      <p:sp>
        <p:nvSpPr>
          <p:cNvPr id="15" name="Text 10"/>
          <p:cNvSpPr/>
          <p:nvPr/>
        </p:nvSpPr>
        <p:spPr>
          <a:xfrm>
            <a:off x="1008097" y="4565303"/>
            <a:ext cx="4967409" cy="68828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25C"/>
                </a:solidFill>
                <a:latin typeface="IBM Plex Sans" pitchFamily="34" charset="0"/>
                <a:ea typeface="IBM Plex Sans" pitchFamily="34" charset="-122"/>
                <a:cs typeface="IBM Plex Sans" pitchFamily="34" charset="-120"/>
              </a:rPr>
              <a:t>The inbox first judged spam from a short preview, not the full email. Classifying on the full subject and body fixed verdicts across the whole inbox.</a:t>
            </a:r>
            <a:endParaRPr lang="en-US" sz="1200" dirty="0"/>
          </a:p>
        </p:txBody>
      </p:sp>
      <p:sp>
        <p:nvSpPr>
          <p:cNvPr id="16" name="Shape 11"/>
          <p:cNvSpPr/>
          <p:nvPr/>
        </p:nvSpPr>
        <p:spPr>
          <a:xfrm>
            <a:off x="6168989" y="3806744"/>
            <a:ext cx="5207046" cy="2032116"/>
          </a:xfrm>
          <a:prstGeom prst="roundRect">
            <a:avLst>
              <a:gd name="adj" fmla="val 4843"/>
            </a:avLst>
          </a:prstGeom>
          <a:solidFill>
            <a:srgbClr val="FFFFFF"/>
          </a:solidFill>
          <a:ln w="6350">
            <a:solidFill>
              <a:srgbClr val="E2E6EA"/>
            </a:solidFill>
            <a:prstDash val="solid"/>
          </a:ln>
        </p:spPr>
      </p:sp>
      <p:pic>
        <p:nvPicPr>
          <p:cNvPr id="17" name="Image 3" descr="Verified">    </p:cNvPr>
          <p:cNvPicPr>
            <a:picLocks noChangeAspect="1"/>
          </p:cNvPicPr>
          <p:nvPr/>
        </p:nvPicPr>
        <p:blipFill>
          <a:blip r:embed="rId4"/>
          <a:srcRect l="0" r="0" t="0" b="0"/>
          <a:stretch/>
        </p:blipFill>
        <p:spPr>
          <a:xfrm>
            <a:off x="6361149" y="3998906"/>
            <a:ext cx="215852" cy="215852"/>
          </a:xfrm>
          <a:prstGeom prst="rect">
            <a:avLst/>
          </a:prstGeom>
        </p:spPr>
      </p:pic>
      <p:sp>
        <p:nvSpPr>
          <p:cNvPr id="18" name="Text 12"/>
          <p:cNvSpPr/>
          <p:nvPr/>
        </p:nvSpPr>
        <p:spPr>
          <a:xfrm>
            <a:off x="6361149" y="4290950"/>
            <a:ext cx="4967409" cy="22355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2B39"/>
                </a:solidFill>
                <a:latin typeface="IBM Plex Sans" pitchFamily="34" charset="0"/>
                <a:ea typeface="IBM Plex Sans" pitchFamily="34" charset="-122"/>
                <a:cs typeface="IBM Plex Sans" pitchFamily="34" charset="-120"/>
              </a:rPr>
              <a:t>Keeping the demo set presentable</a:t>
            </a:r>
            <a:endParaRPr lang="en-US" sz="1300" dirty="0"/>
          </a:p>
        </p:txBody>
      </p:sp>
      <p:sp>
        <p:nvSpPr>
          <p:cNvPr id="19" name="Text 13"/>
          <p:cNvSpPr/>
          <p:nvPr/>
        </p:nvSpPr>
        <p:spPr>
          <a:xfrm>
            <a:off x="6361149" y="4565303"/>
            <a:ext cx="4967409" cy="68828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25C"/>
                </a:solidFill>
                <a:latin typeface="IBM Plex Sans" pitchFamily="34" charset="0"/>
                <a:ea typeface="IBM Plex Sans" pitchFamily="34" charset="-122"/>
                <a:cs typeface="IBM Plex Sans" pitchFamily="34" charset="-120"/>
              </a:rPr>
              <a:t>A few real spam emails contained explicit language. Those are filtered only from the 35 demo emails, never from training, so the model still learns from all of it.</a:t>
            </a:r>
            <a:endParaRPr lang="en-US" sz="1200" dirty="0"/>
          </a:p>
        </p:txBody>
      </p:sp>
      <p:sp>
        <p:nvSpPr>
          <p:cNvPr id="20" name="Text 14"/>
          <p:cNvSpPr/>
          <p:nvPr/>
        </p:nvSpPr>
        <p:spPr>
          <a:xfrm>
            <a:off x="812763" y="6238273"/>
            <a:ext cx="839306"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Outcomes</a:t>
            </a:r>
            <a:endParaRPr lang="en-US" sz="1200" dirty="0"/>
          </a:p>
        </p:txBody>
      </p:sp>
      <p:sp>
        <p:nvSpPr>
          <p:cNvPr id="21" name="Text 15"/>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14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812763"/>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OUTCOMES</a:t>
            </a:r>
            <a:endParaRPr lang="en-US" sz="1200" dirty="0"/>
          </a:p>
        </p:txBody>
      </p:sp>
      <p:sp>
        <p:nvSpPr>
          <p:cNvPr id="3" name="Text 1"/>
          <p:cNvSpPr/>
          <p:nvPr>
            <p:ph type="title"/>
          </p:nvPr>
        </p:nvSpPr>
        <p:spPr>
          <a:xfrm>
            <a:off x="812763" y="1114958"/>
            <a:ext cx="10883441" cy="434298"/>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C2B39"/>
                </a:solidFill>
                <a:latin typeface="Source Serif 4" pitchFamily="18" charset="0"/>
                <a:ea typeface="Source Serif 4" pitchFamily="18" charset="-122"/>
                <a:cs typeface="Source Serif 4" pitchFamily="18" charset="-120"/>
              </a:rPr>
              <a:t>What this project does not do, yet</a:t>
            </a:r>
            <a:endParaRPr lang="en-US" sz="2800" dirty="0"/>
          </a:p>
        </p:txBody>
      </p:sp>
      <p:sp>
        <p:nvSpPr>
          <p:cNvPr id="4" name="Shape 2"/>
          <p:cNvSpPr/>
          <p:nvPr/>
        </p:nvSpPr>
        <p:spPr>
          <a:xfrm>
            <a:off x="812763" y="3101127"/>
            <a:ext cx="10566447" cy="0"/>
          </a:xfrm>
          <a:prstGeom prst="line">
            <a:avLst/>
          </a:prstGeom>
          <a:noFill/>
          <a:ln w="6350">
            <a:solidFill>
              <a:srgbClr val="E2E6EA"/>
            </a:solidFill>
            <a:prstDash val="solid"/>
          </a:ln>
        </p:spPr>
      </p:sp>
      <p:pic>
        <p:nvPicPr>
          <p:cNvPr id="5" name="Image 0" descr="Warning">    </p:cNvPr>
          <p:cNvPicPr>
            <a:picLocks noChangeAspect="1"/>
          </p:cNvPicPr>
          <p:nvPr/>
        </p:nvPicPr>
        <p:blipFill>
          <a:blip r:embed="rId1"/>
          <a:srcRect l="-784" r="-784" t="0" b="0"/>
          <a:stretch/>
        </p:blipFill>
        <p:spPr>
          <a:xfrm>
            <a:off x="812763" y="2445383"/>
            <a:ext cx="167648" cy="190453"/>
          </a:xfrm>
          <a:prstGeom prst="rect">
            <a:avLst/>
          </a:prstGeom>
        </p:spPr>
      </p:pic>
      <p:sp>
        <p:nvSpPr>
          <p:cNvPr id="6" name="Text 3"/>
          <p:cNvSpPr/>
          <p:nvPr/>
        </p:nvSpPr>
        <p:spPr>
          <a:xfrm>
            <a:off x="1145464" y="2445383"/>
            <a:ext cx="10540758" cy="539784"/>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46525C"/>
                </a:solidFill>
                <a:latin typeface="IBM Plex Sans" pitchFamily="34" charset="0"/>
                <a:ea typeface="IBM Plex Sans" pitchFamily="34" charset="-122"/>
                <a:cs typeface="IBM Plex Sans" pitchFamily="34" charset="-120"/>
              </a:rPr>
              <a:t>No online learning.</a:t>
            </a:r>
            <a:r>
              <a:rPr lang="en-US" sz="1350" dirty="0">
                <a:solidFill>
                  <a:srgbClr val="46525C"/>
                </a:solidFill>
                <a:latin typeface="IBM Plex Sans" pitchFamily="34" charset="0"/>
                <a:ea typeface="IBM Plex Sans" pitchFamily="34" charset="-122"/>
                <a:cs typeface="IBM Plex Sans" pitchFamily="34" charset="-120"/>
              </a:rPr>
              <a:t> Disagreeing with a verdict in the Spam Detector does not retrain the model on the spot, it only logs the feedback for a future retrain.</a:t>
            </a:r>
            <a:endParaRPr lang="en-US" sz="1350" dirty="0"/>
          </a:p>
        </p:txBody>
      </p:sp>
      <p:sp>
        <p:nvSpPr>
          <p:cNvPr id="7" name="Shape 4"/>
          <p:cNvSpPr/>
          <p:nvPr/>
        </p:nvSpPr>
        <p:spPr>
          <a:xfrm>
            <a:off x="812763" y="3925101"/>
            <a:ext cx="10566447" cy="0"/>
          </a:xfrm>
          <a:prstGeom prst="line">
            <a:avLst/>
          </a:prstGeom>
          <a:noFill/>
          <a:ln w="6350">
            <a:solidFill>
              <a:srgbClr val="E2E6EA"/>
            </a:solidFill>
            <a:prstDash val="solid"/>
          </a:ln>
        </p:spPr>
      </p:sp>
      <p:pic>
        <p:nvPicPr>
          <p:cNvPr id="8" name="Image 1" descr="Warning">    </p:cNvPr>
          <p:cNvPicPr>
            <a:picLocks noChangeAspect="1"/>
          </p:cNvPicPr>
          <p:nvPr/>
        </p:nvPicPr>
        <p:blipFill>
          <a:blip r:embed="rId2"/>
          <a:srcRect l="-688" r="-688" t="0" b="0"/>
          <a:stretch/>
        </p:blipFill>
        <p:spPr>
          <a:xfrm>
            <a:off x="812763" y="3269357"/>
            <a:ext cx="186639" cy="190453"/>
          </a:xfrm>
          <a:prstGeom prst="rect">
            <a:avLst/>
          </a:prstGeom>
        </p:spPr>
      </p:pic>
      <p:sp>
        <p:nvSpPr>
          <p:cNvPr id="9" name="Text 5"/>
          <p:cNvSpPr/>
          <p:nvPr/>
        </p:nvSpPr>
        <p:spPr>
          <a:xfrm>
            <a:off x="1164456" y="3269357"/>
            <a:ext cx="10521197" cy="539784"/>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46525C"/>
                </a:solidFill>
                <a:latin typeface="IBM Plex Sans" pitchFamily="34" charset="0"/>
                <a:ea typeface="IBM Plex Sans" pitchFamily="34" charset="-122"/>
                <a:cs typeface="IBM Plex Sans" pitchFamily="34" charset="-120"/>
              </a:rPr>
              <a:t>In-memory state only.</a:t>
            </a:r>
            <a:r>
              <a:rPr lang="en-US" sz="1350" dirty="0">
                <a:solidFill>
                  <a:srgbClr val="46525C"/>
                </a:solidFill>
                <a:latin typeface="IBM Plex Sans" pitchFamily="34" charset="0"/>
                <a:ea typeface="IBM Plex Sans" pitchFamily="34" charset="-122"/>
                <a:cs typeface="IBM Plex Sans" pitchFamily="34" charset="-120"/>
              </a:rPr>
              <a:t> Stars, sent mail, and session feedback all reset the moment the server restarts. Nothing is written to a database.</a:t>
            </a:r>
            <a:endParaRPr lang="en-US" sz="1350" dirty="0"/>
          </a:p>
        </p:txBody>
      </p:sp>
      <p:sp>
        <p:nvSpPr>
          <p:cNvPr id="10" name="Shape 6"/>
          <p:cNvSpPr/>
          <p:nvPr/>
        </p:nvSpPr>
        <p:spPr>
          <a:xfrm>
            <a:off x="812763" y="4749076"/>
            <a:ext cx="10566447" cy="0"/>
          </a:xfrm>
          <a:prstGeom prst="line">
            <a:avLst/>
          </a:prstGeom>
          <a:noFill/>
          <a:ln w="6350">
            <a:solidFill>
              <a:srgbClr val="E2E6EA"/>
            </a:solidFill>
            <a:prstDash val="solid"/>
          </a:ln>
        </p:spPr>
      </p:sp>
      <p:pic>
        <p:nvPicPr>
          <p:cNvPr id="11" name="Image 2" descr="Warning">    </p:cNvPr>
          <p:cNvPicPr>
            <a:picLocks noChangeAspect="1"/>
          </p:cNvPicPr>
          <p:nvPr/>
        </p:nvPicPr>
        <p:blipFill>
          <a:blip r:embed="rId3"/>
          <a:srcRect l="0" r="0" t="-1006" b="-1006"/>
          <a:stretch/>
        </p:blipFill>
        <p:spPr>
          <a:xfrm>
            <a:off x="812763" y="4093332"/>
            <a:ext cx="136910" cy="190453"/>
          </a:xfrm>
          <a:prstGeom prst="rect">
            <a:avLst/>
          </a:prstGeom>
        </p:spPr>
      </p:pic>
      <p:sp>
        <p:nvSpPr>
          <p:cNvPr id="12" name="Text 7"/>
          <p:cNvSpPr/>
          <p:nvPr/>
        </p:nvSpPr>
        <p:spPr>
          <a:xfrm>
            <a:off x="1114726" y="4093332"/>
            <a:ext cx="10572418" cy="539784"/>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46525C"/>
                </a:solidFill>
                <a:latin typeface="IBM Plex Sans" pitchFamily="34" charset="0"/>
                <a:ea typeface="IBM Plex Sans" pitchFamily="34" charset="-122"/>
                <a:cs typeface="IBM Plex Sans" pitchFamily="34" charset="-120"/>
              </a:rPr>
              <a:t>Word frequency, not deep context.</a:t>
            </a:r>
            <a:r>
              <a:rPr lang="en-US" sz="1350" dirty="0">
                <a:solidFill>
                  <a:srgbClr val="46525C"/>
                </a:solidFill>
                <a:latin typeface="IBM Plex Sans" pitchFamily="34" charset="0"/>
                <a:ea typeface="IBM Plex Sans" pitchFamily="34" charset="-122"/>
                <a:cs typeface="IBM Plex Sans" pitchFamily="34" charset="-120"/>
              </a:rPr>
              <a:t> The model reasons about which words co-occur, not full sentence meaning, so unusual phrasing built from ordinary looking words can still slip past it.</a:t>
            </a:r>
            <a:endParaRPr lang="en-US" sz="1350" dirty="0"/>
          </a:p>
        </p:txBody>
      </p:sp>
      <p:pic>
        <p:nvPicPr>
          <p:cNvPr id="13" name="Image 3" descr="Warning">    </p:cNvPr>
          <p:cNvPicPr>
            <a:picLocks noChangeAspect="1"/>
          </p:cNvPicPr>
          <p:nvPr/>
        </p:nvPicPr>
        <p:blipFill>
          <a:blip r:embed="rId4"/>
          <a:srcRect l="0" r="0" t="0" b="0"/>
          <a:stretch/>
        </p:blipFill>
        <p:spPr>
          <a:xfrm>
            <a:off x="812763" y="4917306"/>
            <a:ext cx="190453" cy="190453"/>
          </a:xfrm>
          <a:prstGeom prst="rect">
            <a:avLst/>
          </a:prstGeom>
        </p:spPr>
      </p:pic>
      <p:sp>
        <p:nvSpPr>
          <p:cNvPr id="14" name="Text 8"/>
          <p:cNvSpPr/>
          <p:nvPr/>
        </p:nvSpPr>
        <p:spPr>
          <a:xfrm>
            <a:off x="1168270" y="4917306"/>
            <a:ext cx="9566069" cy="282592"/>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46525C"/>
                </a:solidFill>
                <a:latin typeface="IBM Plex Sans" pitchFamily="34" charset="0"/>
                <a:ea typeface="IBM Plex Sans" pitchFamily="34" charset="-122"/>
                <a:cs typeface="IBM Plex Sans" pitchFamily="34" charset="-120"/>
              </a:rPr>
              <a:t>One development server.</a:t>
            </a:r>
            <a:r>
              <a:rPr lang="en-US" sz="1350" dirty="0">
                <a:solidFill>
                  <a:srgbClr val="46525C"/>
                </a:solidFill>
                <a:latin typeface="IBM Plex Sans" pitchFamily="34" charset="0"/>
                <a:ea typeface="IBM Plex Sans" pitchFamily="34" charset="-122"/>
                <a:cs typeface="IBM Plex Sans" pitchFamily="34" charset="-120"/>
              </a:rPr>
              <a:t> Built and run for this class project, not hardened or scaled for production use.</a:t>
            </a:r>
            <a:endParaRPr lang="en-US" sz="1350" dirty="0"/>
          </a:p>
        </p:txBody>
      </p:sp>
      <p:sp>
        <p:nvSpPr>
          <p:cNvPr id="15" name="Text 9"/>
          <p:cNvSpPr/>
          <p:nvPr/>
        </p:nvSpPr>
        <p:spPr>
          <a:xfrm>
            <a:off x="812763" y="6238273"/>
            <a:ext cx="839306"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Outcomes</a:t>
            </a:r>
            <a:endParaRPr lang="en-US" sz="1200" dirty="0"/>
          </a:p>
        </p:txBody>
      </p:sp>
      <p:sp>
        <p:nvSpPr>
          <p:cNvPr id="16" name="Text 10"/>
          <p:cNvSpPr/>
          <p:nvPr/>
        </p:nvSpPr>
        <p:spPr>
          <a:xfrm>
            <a:off x="10783916" y="6238273"/>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812763"/>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OUTCOMES</a:t>
            </a:r>
            <a:endParaRPr lang="en-US" sz="1200" dirty="0"/>
          </a:p>
        </p:txBody>
      </p:sp>
      <p:sp>
        <p:nvSpPr>
          <p:cNvPr id="3" name="Text 1"/>
          <p:cNvSpPr/>
          <p:nvPr>
            <p:ph type="title"/>
          </p:nvPr>
        </p:nvSpPr>
        <p:spPr>
          <a:xfrm>
            <a:off x="812763" y="1114958"/>
            <a:ext cx="10883441" cy="448943"/>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C2B39"/>
                </a:solidFill>
                <a:latin typeface="Source Serif 4" pitchFamily="18" charset="0"/>
                <a:ea typeface="Source Serif 4" pitchFamily="18" charset="-122"/>
                <a:cs typeface="Source Serif 4" pitchFamily="18" charset="-120"/>
              </a:rPr>
              <a:t>Conclusion, and what's next</a:t>
            </a:r>
            <a:endParaRPr lang="en-US" sz="2900" dirty="0"/>
          </a:p>
        </p:txBody>
      </p:sp>
      <p:sp>
        <p:nvSpPr>
          <p:cNvPr id="4" name="Shape 2"/>
          <p:cNvSpPr/>
          <p:nvPr/>
        </p:nvSpPr>
        <p:spPr>
          <a:xfrm>
            <a:off x="815938" y="1821061"/>
            <a:ext cx="5149841" cy="4017801"/>
          </a:xfrm>
          <a:prstGeom prst="roundRect">
            <a:avLst>
              <a:gd name="adj" fmla="val 2450"/>
            </a:avLst>
          </a:prstGeom>
          <a:solidFill>
            <a:srgbClr val="FFFFFF"/>
          </a:solidFill>
          <a:ln w="6350">
            <a:solidFill>
              <a:srgbClr val="E2E6EA"/>
            </a:solidFill>
            <a:prstDash val="solid"/>
          </a:ln>
        </p:spPr>
      </p:sp>
      <p:pic>
        <p:nvPicPr>
          <p:cNvPr id="5" name="Image 0" descr="CheckCircle">    </p:cNvPr>
          <p:cNvPicPr>
            <a:picLocks noChangeAspect="1"/>
          </p:cNvPicPr>
          <p:nvPr/>
        </p:nvPicPr>
        <p:blipFill>
          <a:blip r:embed="rId1"/>
          <a:srcRect l="0" r="0" t="0" b="0"/>
          <a:stretch/>
        </p:blipFill>
        <p:spPr>
          <a:xfrm>
            <a:off x="1071632" y="2095822"/>
            <a:ext cx="190453" cy="190453"/>
          </a:xfrm>
          <a:prstGeom prst="rect">
            <a:avLst/>
          </a:prstGeom>
        </p:spPr>
      </p:pic>
      <p:sp>
        <p:nvSpPr>
          <p:cNvPr id="6" name="Text 3"/>
          <p:cNvSpPr/>
          <p:nvPr/>
        </p:nvSpPr>
        <p:spPr>
          <a:xfrm>
            <a:off x="1350943" y="2076760"/>
            <a:ext cx="1803637" cy="253989"/>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9"/>
                </a:solidFill>
                <a:latin typeface="IBM Plex Sans" pitchFamily="34" charset="0"/>
                <a:ea typeface="IBM Plex Sans" pitchFamily="34" charset="-122"/>
                <a:cs typeface="IBM Plex Sans" pitchFamily="34" charset="-120"/>
              </a:rPr>
              <a:t>What this proved</a:t>
            </a:r>
            <a:endParaRPr lang="en-US" sz="1500" dirty="0"/>
          </a:p>
        </p:txBody>
      </p:sp>
      <p:sp>
        <p:nvSpPr>
          <p:cNvPr id="7" name="Text 4"/>
          <p:cNvSpPr/>
          <p:nvPr/>
        </p:nvSpPr>
        <p:spPr>
          <a:xfrm>
            <a:off x="1170438" y="2432335"/>
            <a:ext cx="4671179" cy="1731774"/>
          </a:xfrm>
          <a:prstGeom prst="rect">
            <a:avLst/>
          </a:prstGeom>
          <a:noFill/>
          <a:ln/>
        </p:spPr>
        <p:txBody>
          <a:bodyPr wrap="square" lIns="0" tIns="0" rIns="0" bIns="0" rtlCol="0" anchor="t">
            <a:normAutofit/>
          </a:bodyPr>
          <a:lstStyle/>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A hand written Naive Bayes classifier can reach 98.64% accuracy on real, unseen email, with duplicates excluded so that number is honest</a:t>
            </a:r>
            <a:endParaRPr lang="en-US" sz="1200" dirty="0"/>
          </a:p>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The math is not a black box: every verdict shows its priors, probabilities, and the words that mattered</a:t>
            </a:r>
            <a:endParaRPr lang="en-US" sz="1200" dirty="0"/>
          </a:p>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Honestly held-out data, not a cleverer algorithm, was what made the biggest difference</a:t>
            </a:r>
            <a:endParaRPr lang="en-US" sz="1200" dirty="0"/>
          </a:p>
        </p:txBody>
      </p:sp>
      <p:sp>
        <p:nvSpPr>
          <p:cNvPr id="8" name="Shape 5"/>
          <p:cNvSpPr/>
          <p:nvPr/>
        </p:nvSpPr>
        <p:spPr>
          <a:xfrm>
            <a:off x="6226117" y="1821061"/>
            <a:ext cx="5149918" cy="4017801"/>
          </a:xfrm>
          <a:prstGeom prst="roundRect">
            <a:avLst>
              <a:gd name="adj" fmla="val 2450"/>
            </a:avLst>
          </a:prstGeom>
          <a:solidFill>
            <a:srgbClr val="FFFFFF"/>
          </a:solidFill>
          <a:ln w="6350">
            <a:solidFill>
              <a:srgbClr val="E2E6EA"/>
            </a:solidFill>
            <a:prstDash val="solid"/>
          </a:ln>
        </p:spPr>
      </p:sp>
      <p:pic>
        <p:nvPicPr>
          <p:cNvPr id="9" name="Image 1" descr="Lightning">    </p:cNvPr>
          <p:cNvPicPr>
            <a:picLocks noChangeAspect="1"/>
          </p:cNvPicPr>
          <p:nvPr/>
        </p:nvPicPr>
        <p:blipFill>
          <a:blip r:embed="rId2"/>
          <a:srcRect l="0" r="0" t="0" b="0"/>
          <a:stretch/>
        </p:blipFill>
        <p:spPr>
          <a:xfrm>
            <a:off x="6481812" y="2095822"/>
            <a:ext cx="190453" cy="190453"/>
          </a:xfrm>
          <a:prstGeom prst="rect">
            <a:avLst/>
          </a:prstGeom>
        </p:spPr>
      </p:pic>
      <p:sp>
        <p:nvSpPr>
          <p:cNvPr id="10" name="Text 6"/>
          <p:cNvSpPr/>
          <p:nvPr/>
        </p:nvSpPr>
        <p:spPr>
          <a:xfrm>
            <a:off x="6761123" y="2076760"/>
            <a:ext cx="1840614" cy="253989"/>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9"/>
                </a:solidFill>
                <a:latin typeface="IBM Plex Sans" pitchFamily="34" charset="0"/>
                <a:ea typeface="IBM Plex Sans" pitchFamily="34" charset="-122"/>
                <a:cs typeface="IBM Plex Sans" pitchFamily="34" charset="-120"/>
              </a:rPr>
              <a:t>Where it could go</a:t>
            </a:r>
            <a:endParaRPr lang="en-US" sz="1500" dirty="0"/>
          </a:p>
        </p:txBody>
      </p:sp>
      <p:sp>
        <p:nvSpPr>
          <p:cNvPr id="11" name="Text 7"/>
          <p:cNvSpPr/>
          <p:nvPr/>
        </p:nvSpPr>
        <p:spPr>
          <a:xfrm>
            <a:off x="6580618" y="2432335"/>
            <a:ext cx="4671258" cy="1731774"/>
          </a:xfrm>
          <a:prstGeom prst="rect">
            <a:avLst/>
          </a:prstGeom>
          <a:noFill/>
          <a:ln/>
        </p:spPr>
        <p:txBody>
          <a:bodyPr wrap="square" lIns="0" tIns="0" rIns="0" bIns="0" rtlCol="0" anchor="t">
            <a:normAutofit/>
          </a:bodyPr>
          <a:lstStyle/>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Persist state in a real database, so stars, sent mail, and feedback survive a restart</a:t>
            </a:r>
            <a:endParaRPr lang="en-US" sz="1200" dirty="0"/>
          </a:p>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Let feedback actually retrain the model, not just get logged</a:t>
            </a:r>
            <a:endParaRPr lang="en-US" sz="1200" dirty="0"/>
          </a:p>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Add bigram or trigram features, not just single words, to catch more context</a:t>
            </a:r>
            <a:endParaRPr lang="en-US" sz="1200" dirty="0"/>
          </a:p>
          <a:p>
            <a:pPr algn="l" marL="155194" indent="-155194">
              <a:lnSpc>
                <a:spcPts val="1920"/>
              </a:lnSpc>
              <a:buSzPct val="100000"/>
              <a:buChar char="•"/>
            </a:pPr>
            <a:r>
              <a:rPr lang="en-US" sz="1200" dirty="0">
                <a:solidFill>
                  <a:srgbClr val="46525C"/>
                </a:solidFill>
                <a:latin typeface="IBM Plex Sans" pitchFamily="34" charset="0"/>
                <a:ea typeface="IBM Plex Sans" pitchFamily="34" charset="-122"/>
                <a:cs typeface="IBM Plex Sans" pitchFamily="34" charset="-120"/>
              </a:rPr>
              <a:t>Package it as a browser extension for a real inbox, beyond this prototype</a:t>
            </a:r>
            <a:endParaRPr lang="en-US" sz="1200" dirty="0"/>
          </a:p>
        </p:txBody>
      </p:sp>
      <p:sp>
        <p:nvSpPr>
          <p:cNvPr id="12" name="Text 8"/>
          <p:cNvSpPr/>
          <p:nvPr/>
        </p:nvSpPr>
        <p:spPr>
          <a:xfrm>
            <a:off x="812763" y="6238280"/>
            <a:ext cx="839306" cy="2387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Outcomes</a:t>
            </a:r>
            <a:endParaRPr lang="en-US" sz="1200" dirty="0"/>
          </a:p>
        </p:txBody>
      </p:sp>
      <p:sp>
        <p:nvSpPr>
          <p:cNvPr id="13" name="Text 9"/>
          <p:cNvSpPr/>
          <p:nvPr/>
        </p:nvSpPr>
        <p:spPr>
          <a:xfrm>
            <a:off x="10783916" y="6238280"/>
            <a:ext cx="595294"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1"/>
                </a:solidFill>
                <a:latin typeface="IBM Plex Sans" pitchFamily="34" charset="0"/>
                <a:ea typeface="IBM Plex Sans" pitchFamily="34" charset="-122"/>
                <a:cs typeface="IBM Plex Sans" pitchFamily="34" charset="-120"/>
              </a:rPr>
              <a:t>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763" y="812763"/>
            <a:ext cx="10883441" cy="238735"/>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F5FA8"/>
                </a:solidFill>
                <a:latin typeface="IBM Plex Sans" pitchFamily="34" charset="0"/>
                <a:ea typeface="IBM Plex Sans" pitchFamily="34" charset="-122"/>
                <a:cs typeface="IBM Plex Sans" pitchFamily="34" charset="-120"/>
              </a:rPr>
              <a:t>OUTCOMES</a:t>
            </a:r>
            <a:endParaRPr lang="en-US" sz="1200" dirty="0"/>
          </a:p>
        </p:txBody>
      </p:sp>
      <p:sp>
        <p:nvSpPr>
          <p:cNvPr id="3" name="Text 1"/>
          <p:cNvSpPr/>
          <p:nvPr>
            <p:ph type="title"/>
          </p:nvPr>
        </p:nvSpPr>
        <p:spPr>
          <a:xfrm>
            <a:off x="812763" y="1114958"/>
            <a:ext cx="10883441" cy="448943"/>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C2B39"/>
                </a:solidFill>
                <a:latin typeface="Source Serif 4" pitchFamily="18" charset="0"/>
                <a:ea typeface="Source Serif 4" pitchFamily="18" charset="-122"/>
                <a:cs typeface="Source Serif 4" pitchFamily="18" charset="-120"/>
              </a:rPr>
              <a:t>References and sources</a:t>
            </a:r>
            <a:endParaRPr lang="en-US" sz="2900" dirty="0"/>
          </a:p>
        </p:txBody>
      </p:sp>
      <p:sp>
        <p:nvSpPr>
          <p:cNvPr id="4" name="Text 2"/>
          <p:cNvSpPr/>
          <p:nvPr/>
        </p:nvSpPr>
        <p:spPr>
          <a:xfrm>
            <a:off x="812763" y="1792486"/>
            <a:ext cx="304788" cy="23873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01</a:t>
            </a:r>
            <a:endParaRPr lang="en-US" sz="1200" dirty="0"/>
          </a:p>
        </p:txBody>
      </p:sp>
      <p:sp>
        <p:nvSpPr>
          <p:cNvPr id="5" name="Text 3"/>
          <p:cNvSpPr/>
          <p:nvPr/>
        </p:nvSpPr>
        <p:spPr>
          <a:xfrm>
            <a:off x="1206406" y="1792486"/>
            <a:ext cx="10477988" cy="50149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6525C"/>
                </a:solidFill>
                <a:latin typeface="IBM Plex Sans" pitchFamily="34" charset="0"/>
                <a:ea typeface="IBM Plex Sans" pitchFamily="34" charset="-122"/>
                <a:cs typeface="IBM Plex Sans" pitchFamily="34" charset="-120"/>
              </a:rPr>
              <a:t>V. Metsis, I. Androutsopoulos, and G. Paliouras. "Spam Filtering with Naive Bayes, Which Naive Bayes?" CEAS 2006. Source of the Enron-Spam corpus.</a:t>
            </a:r>
            <a:endParaRPr lang="en-US" sz="1250" dirty="0"/>
          </a:p>
        </p:txBody>
      </p:sp>
      <p:sp>
        <p:nvSpPr>
          <p:cNvPr id="6" name="Text 4"/>
          <p:cNvSpPr/>
          <p:nvPr/>
        </p:nvSpPr>
        <p:spPr>
          <a:xfrm>
            <a:off x="812763" y="2408238"/>
            <a:ext cx="304788" cy="23873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02</a:t>
            </a:r>
            <a:endParaRPr lang="en-US" sz="1200" dirty="0"/>
          </a:p>
        </p:txBody>
      </p:sp>
      <p:sp>
        <p:nvSpPr>
          <p:cNvPr id="7" name="Text 5"/>
          <p:cNvSpPr/>
          <p:nvPr/>
        </p:nvSpPr>
        <p:spPr>
          <a:xfrm>
            <a:off x="1206406" y="2408238"/>
            <a:ext cx="10477988" cy="263447"/>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6525C"/>
                </a:solidFill>
                <a:latin typeface="IBM Plex Sans" pitchFamily="34" charset="0"/>
                <a:ea typeface="IBM Plex Sans" pitchFamily="34" charset="-122"/>
                <a:cs typeface="IBM Plex Sans" pitchFamily="34" charset="-120"/>
              </a:rPr>
              <a:t>Enron-Spam dataset mirror used for download: MWiechmann/enron_spam_data, GitHub.</a:t>
            </a:r>
            <a:endParaRPr lang="en-US" sz="1250" dirty="0"/>
          </a:p>
        </p:txBody>
      </p:sp>
      <p:sp>
        <p:nvSpPr>
          <p:cNvPr id="8" name="Text 6"/>
          <p:cNvSpPr/>
          <p:nvPr/>
        </p:nvSpPr>
        <p:spPr>
          <a:xfrm>
            <a:off x="812763" y="2785938"/>
            <a:ext cx="304788" cy="23873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03</a:t>
            </a:r>
            <a:endParaRPr lang="en-US" sz="1200" dirty="0"/>
          </a:p>
        </p:txBody>
      </p:sp>
      <p:sp>
        <p:nvSpPr>
          <p:cNvPr id="9" name="Text 7"/>
          <p:cNvSpPr/>
          <p:nvPr/>
        </p:nvSpPr>
        <p:spPr>
          <a:xfrm>
            <a:off x="1206406" y="2785938"/>
            <a:ext cx="10477988" cy="263447"/>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6525C"/>
                </a:solidFill>
                <a:latin typeface="IBM Plex Sans" pitchFamily="34" charset="0"/>
                <a:ea typeface="IBM Plex Sans" pitchFamily="34" charset="-122"/>
                <a:cs typeface="IBM Plex Sans" pitchFamily="34" charset="-120"/>
              </a:rPr>
              <a:t>Original Enron-Spam release, Athens University of Economics and Business, AUEB NLP group.</a:t>
            </a:r>
            <a:endParaRPr lang="en-US" sz="1250" dirty="0"/>
          </a:p>
        </p:txBody>
      </p:sp>
      <p:sp>
        <p:nvSpPr>
          <p:cNvPr id="10" name="Text 8"/>
          <p:cNvSpPr/>
          <p:nvPr/>
        </p:nvSpPr>
        <p:spPr>
          <a:xfrm>
            <a:off x="812763" y="3163652"/>
            <a:ext cx="304788" cy="23873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04</a:t>
            </a:r>
            <a:endParaRPr lang="en-US" sz="1200" dirty="0"/>
          </a:p>
        </p:txBody>
      </p:sp>
      <p:sp>
        <p:nvSpPr>
          <p:cNvPr id="11" name="Text 9"/>
          <p:cNvSpPr/>
          <p:nvPr/>
        </p:nvSpPr>
        <p:spPr>
          <a:xfrm>
            <a:off x="1206406" y="3163652"/>
            <a:ext cx="10477988" cy="263447"/>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6525C"/>
                </a:solidFill>
                <a:latin typeface="IBM Plex Sans" pitchFamily="34" charset="0"/>
                <a:ea typeface="IBM Plex Sans" pitchFamily="34" charset="-122"/>
                <a:cs typeface="IBM Plex Sans" pitchFamily="34" charset="-120"/>
              </a:rPr>
              <a:t>Flask documentation, flask.palletsprojects.com, for the web framework and routing.</a:t>
            </a:r>
            <a:endParaRPr lang="en-US" sz="1250" dirty="0"/>
          </a:p>
        </p:txBody>
      </p:sp>
      <p:sp>
        <p:nvSpPr>
          <p:cNvPr id="12" name="Text 10"/>
          <p:cNvSpPr/>
          <p:nvPr/>
        </p:nvSpPr>
        <p:spPr>
          <a:xfrm>
            <a:off x="812763" y="3541353"/>
            <a:ext cx="304788" cy="23873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05</a:t>
            </a:r>
            <a:endParaRPr lang="en-US" sz="1200" dirty="0"/>
          </a:p>
        </p:txBody>
      </p:sp>
      <p:sp>
        <p:nvSpPr>
          <p:cNvPr id="13" name="Text 11"/>
          <p:cNvSpPr/>
          <p:nvPr/>
        </p:nvSpPr>
        <p:spPr>
          <a:xfrm>
            <a:off x="1206406" y="3541353"/>
            <a:ext cx="10477988" cy="263447"/>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6525C"/>
                </a:solidFill>
                <a:latin typeface="IBM Plex Sans" pitchFamily="34" charset="0"/>
                <a:ea typeface="IBM Plex Sans" pitchFamily="34" charset="-122"/>
                <a:cs typeface="IBM Plex Sans" pitchFamily="34" charset="-120"/>
              </a:rPr>
              <a:t>pandas documentation, pandas.pydata.org, for loading and cleaning the CSV data.</a:t>
            </a:r>
            <a:endParaRPr lang="en-US" sz="1250" dirty="0"/>
          </a:p>
        </p:txBody>
      </p:sp>
      <p:sp>
        <p:nvSpPr>
          <p:cNvPr id="14" name="Shape 12"/>
          <p:cNvSpPr/>
          <p:nvPr/>
        </p:nvSpPr>
        <p:spPr>
          <a:xfrm>
            <a:off x="812763" y="5352728"/>
            <a:ext cx="10566447" cy="0"/>
          </a:xfrm>
          <a:prstGeom prst="line">
            <a:avLst/>
          </a:prstGeom>
          <a:noFill/>
          <a:ln w="6350">
            <a:solidFill>
              <a:srgbClr val="DCE2E6"/>
            </a:solidFill>
            <a:prstDash val="solid"/>
          </a:ln>
        </p:spPr>
      </p:sp>
      <p:sp>
        <p:nvSpPr>
          <p:cNvPr id="15" name="Text 13"/>
          <p:cNvSpPr/>
          <p:nvPr/>
        </p:nvSpPr>
        <p:spPr>
          <a:xfrm>
            <a:off x="812763" y="5557614"/>
            <a:ext cx="1189215" cy="30982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B39"/>
                </a:solidFill>
                <a:latin typeface="Source Serif 4" pitchFamily="18" charset="0"/>
                <a:ea typeface="Source Serif 4" pitchFamily="18" charset="-122"/>
                <a:cs typeface="Source Serif 4" pitchFamily="18" charset="-120"/>
              </a:rPr>
              <a:t>Thank you.</a:t>
            </a:r>
            <a:endParaRPr lang="en-US" sz="1600" dirty="0"/>
          </a:p>
        </p:txBody>
      </p:sp>
      <p:sp>
        <p:nvSpPr>
          <p:cNvPr id="16" name="Text 14"/>
          <p:cNvSpPr/>
          <p:nvPr/>
        </p:nvSpPr>
        <p:spPr>
          <a:xfrm>
            <a:off x="8779559" y="5593159"/>
            <a:ext cx="2599650" cy="23873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Ruchitra J · VNR VJIET · 17 / 17</a:t>
            </a:r>
            <a:endParaRPr lang="en-US" sz="1200" dirty="0"/>
          </a:p>
        </p:txBody>
      </p:sp>
    </p:spTree>
  </p:cSld>
  <p:clrMapOvr>
    <a:masterClrMapping/>
  </p:clrMapOvr>
</p:sld>
</file>

<file path=ppt/theme/theme1.xml><?xml version="1.0" encoding="utf-8"?>
<a:theme xmlns:a="http://schemas.openxmlformats.org/drawingml/2006/main" name="Catching Spam with Naive Bayes">
  <a:themeElements>
    <a:clrScheme name="Catching Spam with Naive Bayes">
      <a:dk1>
        <a:srgbClr val="1C2B39"/>
      </a:dk1>
      <a:lt1>
        <a:srgbClr val="FBFBF8"/>
      </a:lt1>
      <a:dk2>
        <a:srgbClr val="545F69"/>
      </a:dk2>
      <a:lt2>
        <a:srgbClr val="E5E6E5"/>
      </a:lt2>
      <a:accent1>
        <a:srgbClr val="2F5FA8"/>
      </a:accent1>
      <a:accent2>
        <a:srgbClr val="1E7B34"/>
      </a:accent2>
      <a:accent3>
        <a:srgbClr val="B5321C"/>
      </a:accent3>
      <a:accent4>
        <a:srgbClr val="B54708"/>
      </a:accent4>
      <a:accent5>
        <a:srgbClr val="46525C"/>
      </a:accent5>
      <a:accent6>
        <a:srgbClr val="8A95A1"/>
      </a:accent6>
      <a:hlink>
        <a:srgbClr val="0563C1"/>
      </a:hlink>
      <a:folHlink>
        <a:srgbClr val="954F72"/>
      </a:folHlink>
    </a:clrScheme>
    <a:fontScheme name="Catching Spam with Naive Baye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Catching Spam with Naive Bayes</dc:title>
  <dc:subject/>
  <dc:creator/>
  <cp:lastModifiedBy/>
  <cp:revision>1</cp:revision>
  <dcterms:created xsi:type="dcterms:W3CDTF">2026-10-12T19:11:05Z</dcterms:created>
  <dcterms:modified xsi:type="dcterms:W3CDTF">2026-10-12T19:11:05Z</dcterms:modified>
</cp:coreProperties>
</file>